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 id="214748369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aleway"/>
      <p:regular r:id="rId36"/>
      <p:bold r:id="rId37"/>
      <p:italic r:id="rId38"/>
      <p:boldItalic r:id="rId39"/>
    </p:embeddedFont>
    <p:embeddedFont>
      <p:font typeface="Bebas Neue"/>
      <p:regular r:id="rId40"/>
    </p:embeddedFont>
    <p:embeddedFont>
      <p:font typeface="Syne"/>
      <p:regular r:id="rId41"/>
      <p:bold r:id="rId42"/>
    </p:embeddedFont>
    <p:embeddedFont>
      <p:font typeface="Albert Sans"/>
      <p:regular r:id="rId43"/>
      <p:bold r:id="rId44"/>
      <p:italic r:id="rId45"/>
      <p:boldItalic r:id="rId46"/>
    </p:embeddedFont>
    <p:embeddedFont>
      <p:font typeface="Syne SemiBold"/>
      <p:regular r:id="rId47"/>
      <p:bold r:id="rId48"/>
    </p:embeddedFont>
    <p:embeddedFont>
      <p:font typeface="Syne Medium"/>
      <p:regular r:id="rId49"/>
      <p:bold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5A9BC6-8CD5-4C3E-ABC0-0DEC419FA553}">
  <a:tblStyle styleId="{345A9BC6-8CD5-4C3E-ABC0-0DEC419FA55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BebasNeue-regular.fntdata"/><Relationship Id="rId42" Type="http://schemas.openxmlformats.org/officeDocument/2006/relationships/font" Target="fonts/Syne-bold.fntdata"/><Relationship Id="rId41" Type="http://schemas.openxmlformats.org/officeDocument/2006/relationships/font" Target="fonts/Syne-regular.fntdata"/><Relationship Id="rId44" Type="http://schemas.openxmlformats.org/officeDocument/2006/relationships/font" Target="fonts/AlbertSans-bold.fntdata"/><Relationship Id="rId43" Type="http://schemas.openxmlformats.org/officeDocument/2006/relationships/font" Target="fonts/AlbertSans-regular.fntdata"/><Relationship Id="rId46" Type="http://schemas.openxmlformats.org/officeDocument/2006/relationships/font" Target="fonts/AlbertSans-boldItalic.fntdata"/><Relationship Id="rId45" Type="http://schemas.openxmlformats.org/officeDocument/2006/relationships/font" Target="fonts/AlbertSa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SyneSemiBold-bold.fntdata"/><Relationship Id="rId47" Type="http://schemas.openxmlformats.org/officeDocument/2006/relationships/font" Target="fonts/SyneSemiBold-regular.fntdata"/><Relationship Id="rId49" Type="http://schemas.openxmlformats.org/officeDocument/2006/relationships/font" Target="fonts/Syne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Raleway-bold.fntdata"/><Relationship Id="rId36" Type="http://schemas.openxmlformats.org/officeDocument/2006/relationships/font" Target="fonts/Raleway-regular.fntdata"/><Relationship Id="rId39" Type="http://schemas.openxmlformats.org/officeDocument/2006/relationships/font" Target="fonts/Raleway-boldItalic.fntdata"/><Relationship Id="rId38" Type="http://schemas.openxmlformats.org/officeDocument/2006/relationships/font" Target="fonts/Raleway-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regular.fntdata"/><Relationship Id="rId50" Type="http://schemas.openxmlformats.org/officeDocument/2006/relationships/font" Target="fonts/SyneMedium-bold.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b658fd2c6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b658fd2c6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b658fd2c6_6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8b658fd2c6_6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Why did you choose this topic?</a:t>
            </a:r>
            <a:endParaRPr/>
          </a:p>
          <a:p>
            <a:pPr indent="-298450" lvl="0" marL="457200" rtl="0" algn="l">
              <a:spcBef>
                <a:spcPts val="0"/>
              </a:spcBef>
              <a:spcAft>
                <a:spcPts val="0"/>
              </a:spcAft>
              <a:buSzPts val="1100"/>
              <a:buChar char="-"/>
            </a:pPr>
            <a:r>
              <a:rPr lang="en"/>
              <a:t>Why would it be interesting to other people?</a:t>
            </a:r>
            <a:endParaRPr/>
          </a:p>
          <a:p>
            <a:pPr indent="-298450" lvl="0" marL="457200" rtl="0" algn="l">
              <a:spcBef>
                <a:spcPts val="0"/>
              </a:spcBef>
              <a:spcAft>
                <a:spcPts val="0"/>
              </a:spcAft>
              <a:buSzPts val="1100"/>
              <a:buChar char="-"/>
            </a:pPr>
            <a:r>
              <a:rPr lang="en"/>
              <a:t>What did you hope to learn?</a:t>
            </a:r>
            <a:endParaRPr/>
          </a:p>
          <a:p>
            <a:pPr indent="-298450" lvl="0" marL="457200" rtl="0" algn="l">
              <a:spcBef>
                <a:spcPts val="0"/>
              </a:spcBef>
              <a:spcAft>
                <a:spcPts val="0"/>
              </a:spcAft>
              <a:buSzPts val="1100"/>
              <a:buChar char="-"/>
            </a:pPr>
            <a:r>
              <a:rPr lang="en"/>
              <a:t>What are you going to show us, in general terms?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73a849c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73a849c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75508ede2_34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75508ede2_34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7222b31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97222b31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975508ede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975508ede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73d33422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73d33422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979fbaa5a0_61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979fbaa5a0_61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979fbaa5a0_5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979fbaa5a0_5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73d33422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73d33422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975508ede2_3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975508ede2_3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remind audience: what is your goal? what exactly are you trying to</a:t>
            </a:r>
            <a:endParaRPr>
              <a:solidFill>
                <a:schemeClr val="dk1"/>
              </a:solidFill>
            </a:endParaRPr>
          </a:p>
          <a:p>
            <a:pPr indent="0" lvl="0" marL="0" rtl="0" algn="l">
              <a:spcBef>
                <a:spcPts val="0"/>
              </a:spcBef>
              <a:spcAft>
                <a:spcPts val="0"/>
              </a:spcAft>
              <a:buNone/>
            </a:pPr>
            <a:r>
              <a:rPr lang="en">
                <a:solidFill>
                  <a:schemeClr val="dk1"/>
                </a:solidFill>
              </a:rPr>
              <a:t>predict? how many classes are there?</a:t>
            </a:r>
            <a:endParaRPr>
              <a:solidFill>
                <a:schemeClr val="dk1"/>
              </a:solidFill>
            </a:endParaRPr>
          </a:p>
          <a:p>
            <a:pPr indent="0" lvl="0" marL="0" rtl="0" algn="l">
              <a:spcBef>
                <a:spcPts val="0"/>
              </a:spcBef>
              <a:spcAft>
                <a:spcPts val="0"/>
              </a:spcAft>
              <a:buNone/>
            </a:pPr>
            <a:r>
              <a:rPr lang="en">
                <a:solidFill>
                  <a:schemeClr val="dk1"/>
                </a:solidFill>
              </a:rPr>
              <a:t>• what classification approaches did you use? do you have any reason</a:t>
            </a:r>
            <a:endParaRPr>
              <a:solidFill>
                <a:schemeClr val="dk1"/>
              </a:solidFill>
            </a:endParaRPr>
          </a:p>
          <a:p>
            <a:pPr indent="0" lvl="0" marL="0" rtl="0" algn="l">
              <a:spcBef>
                <a:spcPts val="0"/>
              </a:spcBef>
              <a:spcAft>
                <a:spcPts val="0"/>
              </a:spcAft>
              <a:buNone/>
            </a:pPr>
            <a:r>
              <a:rPr lang="en">
                <a:solidFill>
                  <a:schemeClr val="dk1"/>
                </a:solidFill>
              </a:rPr>
              <a:t>for exploring these (other than I said so)?</a:t>
            </a:r>
            <a:endParaRPr>
              <a:solidFill>
                <a:schemeClr val="dk1"/>
              </a:solidFill>
            </a:endParaRPr>
          </a:p>
          <a:p>
            <a:pPr indent="0" lvl="0" marL="0" rtl="0" algn="l">
              <a:spcBef>
                <a:spcPts val="0"/>
              </a:spcBef>
              <a:spcAft>
                <a:spcPts val="0"/>
              </a:spcAft>
              <a:buNone/>
            </a:pPr>
            <a:r>
              <a:rPr lang="en">
                <a:solidFill>
                  <a:schemeClr val="dk1"/>
                </a:solidFill>
              </a:rPr>
              <a:t>• what special stuff did you have to do to make your data work with</a:t>
            </a:r>
            <a:endParaRPr>
              <a:solidFill>
                <a:schemeClr val="dk1"/>
              </a:solidFill>
            </a:endParaRPr>
          </a:p>
          <a:p>
            <a:pPr indent="0" lvl="0" marL="0" rtl="0" algn="l">
              <a:spcBef>
                <a:spcPts val="0"/>
              </a:spcBef>
              <a:spcAft>
                <a:spcPts val="0"/>
              </a:spcAft>
              <a:buNone/>
            </a:pPr>
            <a:r>
              <a:rPr lang="en">
                <a:solidFill>
                  <a:schemeClr val="dk1"/>
                </a:solidFill>
              </a:rPr>
              <a:t>each approach? what pre-processing did you do, why, and under what</a:t>
            </a:r>
            <a:endParaRPr>
              <a:solidFill>
                <a:schemeClr val="dk1"/>
              </a:solidFill>
            </a:endParaRPr>
          </a:p>
          <a:p>
            <a:pPr indent="0" lvl="0" marL="0" rtl="0" algn="l">
              <a:spcBef>
                <a:spcPts val="0"/>
              </a:spcBef>
              <a:spcAft>
                <a:spcPts val="0"/>
              </a:spcAft>
              <a:buNone/>
            </a:pPr>
            <a:r>
              <a:rPr lang="en">
                <a:solidFill>
                  <a:schemeClr val="dk1"/>
                </a:solidFill>
              </a:rPr>
              <a:t>circumstances, e.g.,</a:t>
            </a:r>
            <a:endParaRPr>
              <a:solidFill>
                <a:schemeClr val="dk1"/>
              </a:solidFill>
            </a:endParaRPr>
          </a:p>
          <a:p>
            <a:pPr indent="0" lvl="0" marL="0" rtl="0" algn="l">
              <a:spcBef>
                <a:spcPts val="0"/>
              </a:spcBef>
              <a:spcAft>
                <a:spcPts val="0"/>
              </a:spcAft>
              <a:buNone/>
            </a:pPr>
            <a:r>
              <a:rPr lang="en">
                <a:solidFill>
                  <a:schemeClr val="dk1"/>
                </a:solidFill>
              </a:rPr>
              <a:t>• you would not remove stop words before calculating n-grams but</a:t>
            </a:r>
            <a:endParaRPr>
              <a:solidFill>
                <a:schemeClr val="dk1"/>
              </a:solidFill>
            </a:endParaRPr>
          </a:p>
          <a:p>
            <a:pPr indent="0" lvl="0" marL="0" rtl="0" algn="l">
              <a:spcBef>
                <a:spcPts val="0"/>
              </a:spcBef>
              <a:spcAft>
                <a:spcPts val="0"/>
              </a:spcAft>
              <a:buNone/>
            </a:pPr>
            <a:r>
              <a:rPr lang="en">
                <a:solidFill>
                  <a:schemeClr val="dk1"/>
                </a:solidFill>
              </a:rPr>
              <a:t>you would tokenize</a:t>
            </a:r>
            <a:endParaRPr>
              <a:solidFill>
                <a:schemeClr val="dk1"/>
              </a:solidFill>
            </a:endParaRPr>
          </a:p>
          <a:p>
            <a:pPr indent="0" lvl="0" marL="0" rtl="0" algn="l">
              <a:spcBef>
                <a:spcPts val="0"/>
              </a:spcBef>
              <a:spcAft>
                <a:spcPts val="0"/>
              </a:spcAft>
              <a:buNone/>
            </a:pPr>
            <a:r>
              <a:rPr lang="en">
                <a:solidFill>
                  <a:schemeClr val="dk1"/>
                </a:solidFill>
              </a:rPr>
              <a:t>• if using an LLM, zero-shot or few-shot? if few-shot, how did you</a:t>
            </a:r>
            <a:endParaRPr>
              <a:solidFill>
                <a:schemeClr val="dk1"/>
              </a:solidFill>
            </a:endParaRPr>
          </a:p>
          <a:p>
            <a:pPr indent="0" lvl="0" marL="0" rtl="0" algn="l">
              <a:spcBef>
                <a:spcPts val="0"/>
              </a:spcBef>
              <a:spcAft>
                <a:spcPts val="0"/>
              </a:spcAft>
              <a:buNone/>
            </a:pPr>
            <a:r>
              <a:rPr lang="en">
                <a:solidFill>
                  <a:schemeClr val="dk1"/>
                </a:solidFill>
              </a:rPr>
              <a:t>select your examples?</a:t>
            </a:r>
            <a:endParaRPr>
              <a:solidFill>
                <a:schemeClr val="dk1"/>
              </a:solidFill>
            </a:endParaRPr>
          </a:p>
          <a:p>
            <a:pPr indent="0" lvl="0" marL="0" rtl="0" algn="l">
              <a:spcBef>
                <a:spcPts val="0"/>
              </a:spcBef>
              <a:spcAft>
                <a:spcPts val="0"/>
              </a:spcAft>
              <a:buNone/>
            </a:pPr>
            <a:r>
              <a:rPr lang="en">
                <a:solidFill>
                  <a:schemeClr val="dk1"/>
                </a:solidFill>
              </a:rPr>
              <a:t>• if using an LLM what exactly was your prompt? how did you select</a:t>
            </a:r>
            <a:endParaRPr>
              <a:solidFill>
                <a:schemeClr val="dk1"/>
              </a:solidFill>
            </a:endParaRPr>
          </a:p>
          <a:p>
            <a:pPr indent="0" lvl="0" marL="0" rtl="0" algn="l">
              <a:spcBef>
                <a:spcPts val="0"/>
              </a:spcBef>
              <a:spcAft>
                <a:spcPts val="0"/>
              </a:spcAft>
              <a:buNone/>
            </a:pPr>
            <a:r>
              <a:rPr lang="en">
                <a:solidFill>
                  <a:schemeClr val="dk1"/>
                </a:solidFill>
              </a:rPr>
              <a:t>this prompt, and did you experiment with different prompts?</a:t>
            </a:r>
            <a:endParaRPr>
              <a:solidFill>
                <a:schemeClr val="dk1"/>
              </a:solidFill>
            </a:endParaRPr>
          </a:p>
          <a:p>
            <a:pPr indent="0" lvl="0" marL="0" rtl="0" algn="l">
              <a:spcBef>
                <a:spcPts val="0"/>
              </a:spcBef>
              <a:spcAft>
                <a:spcPts val="0"/>
              </a:spcAft>
              <a:buNone/>
            </a:pPr>
            <a:r>
              <a:rPr lang="en">
                <a:solidFill>
                  <a:schemeClr val="dk1"/>
                </a:solidFill>
              </a:rPr>
              <a:t>• If you did data augmentation or transfer learning, explain!</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75508ede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975508ede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979fbaa5a0_5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979fbaa5a0_5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979fbaa5a0_5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979fbaa5a0_5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79fbaa5a0_6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79fbaa5a0_6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9762976ba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9762976ba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75508ede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975508ede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75508ede2_3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975508ede2_3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remind audience: what is your goal? what exactly are you trying to</a:t>
            </a:r>
            <a:endParaRPr>
              <a:solidFill>
                <a:schemeClr val="dk1"/>
              </a:solidFill>
            </a:endParaRPr>
          </a:p>
          <a:p>
            <a:pPr indent="0" lvl="0" marL="0" rtl="0" algn="l">
              <a:spcBef>
                <a:spcPts val="0"/>
              </a:spcBef>
              <a:spcAft>
                <a:spcPts val="0"/>
              </a:spcAft>
              <a:buNone/>
            </a:pPr>
            <a:r>
              <a:rPr lang="en">
                <a:solidFill>
                  <a:schemeClr val="dk1"/>
                </a:solidFill>
              </a:rPr>
              <a:t>predict? how many classes are there?</a:t>
            </a:r>
            <a:endParaRPr>
              <a:solidFill>
                <a:schemeClr val="dk1"/>
              </a:solidFill>
            </a:endParaRPr>
          </a:p>
          <a:p>
            <a:pPr indent="0" lvl="0" marL="0" rtl="0" algn="l">
              <a:spcBef>
                <a:spcPts val="0"/>
              </a:spcBef>
              <a:spcAft>
                <a:spcPts val="0"/>
              </a:spcAft>
              <a:buNone/>
            </a:pPr>
            <a:r>
              <a:rPr lang="en">
                <a:solidFill>
                  <a:schemeClr val="dk1"/>
                </a:solidFill>
              </a:rPr>
              <a:t>• what classification approaches did you use? do you have any reason</a:t>
            </a:r>
            <a:endParaRPr>
              <a:solidFill>
                <a:schemeClr val="dk1"/>
              </a:solidFill>
            </a:endParaRPr>
          </a:p>
          <a:p>
            <a:pPr indent="0" lvl="0" marL="0" rtl="0" algn="l">
              <a:spcBef>
                <a:spcPts val="0"/>
              </a:spcBef>
              <a:spcAft>
                <a:spcPts val="0"/>
              </a:spcAft>
              <a:buNone/>
            </a:pPr>
            <a:r>
              <a:rPr lang="en">
                <a:solidFill>
                  <a:schemeClr val="dk1"/>
                </a:solidFill>
              </a:rPr>
              <a:t>for exploring these (other than I said so)?</a:t>
            </a:r>
            <a:endParaRPr>
              <a:solidFill>
                <a:schemeClr val="dk1"/>
              </a:solidFill>
            </a:endParaRPr>
          </a:p>
          <a:p>
            <a:pPr indent="0" lvl="0" marL="0" rtl="0" algn="l">
              <a:spcBef>
                <a:spcPts val="0"/>
              </a:spcBef>
              <a:spcAft>
                <a:spcPts val="0"/>
              </a:spcAft>
              <a:buNone/>
            </a:pPr>
            <a:r>
              <a:rPr lang="en">
                <a:solidFill>
                  <a:schemeClr val="dk1"/>
                </a:solidFill>
              </a:rPr>
              <a:t>• what special stuff did you have to do to make your data work with</a:t>
            </a:r>
            <a:endParaRPr>
              <a:solidFill>
                <a:schemeClr val="dk1"/>
              </a:solidFill>
            </a:endParaRPr>
          </a:p>
          <a:p>
            <a:pPr indent="0" lvl="0" marL="0" rtl="0" algn="l">
              <a:spcBef>
                <a:spcPts val="0"/>
              </a:spcBef>
              <a:spcAft>
                <a:spcPts val="0"/>
              </a:spcAft>
              <a:buNone/>
            </a:pPr>
            <a:r>
              <a:rPr lang="en">
                <a:solidFill>
                  <a:schemeClr val="dk1"/>
                </a:solidFill>
              </a:rPr>
              <a:t>each approach? what pre-processing did you do, why, and under what</a:t>
            </a:r>
            <a:endParaRPr>
              <a:solidFill>
                <a:schemeClr val="dk1"/>
              </a:solidFill>
            </a:endParaRPr>
          </a:p>
          <a:p>
            <a:pPr indent="0" lvl="0" marL="0" rtl="0" algn="l">
              <a:spcBef>
                <a:spcPts val="0"/>
              </a:spcBef>
              <a:spcAft>
                <a:spcPts val="0"/>
              </a:spcAft>
              <a:buNone/>
            </a:pPr>
            <a:r>
              <a:rPr lang="en">
                <a:solidFill>
                  <a:schemeClr val="dk1"/>
                </a:solidFill>
              </a:rPr>
              <a:t>circumstances, e.g.,</a:t>
            </a:r>
            <a:endParaRPr>
              <a:solidFill>
                <a:schemeClr val="dk1"/>
              </a:solidFill>
            </a:endParaRPr>
          </a:p>
          <a:p>
            <a:pPr indent="0" lvl="0" marL="0" rtl="0" algn="l">
              <a:spcBef>
                <a:spcPts val="0"/>
              </a:spcBef>
              <a:spcAft>
                <a:spcPts val="0"/>
              </a:spcAft>
              <a:buNone/>
            </a:pPr>
            <a:r>
              <a:rPr lang="en">
                <a:solidFill>
                  <a:schemeClr val="dk1"/>
                </a:solidFill>
              </a:rPr>
              <a:t>• you would not remove stop words before calculating n-grams but</a:t>
            </a:r>
            <a:endParaRPr>
              <a:solidFill>
                <a:schemeClr val="dk1"/>
              </a:solidFill>
            </a:endParaRPr>
          </a:p>
          <a:p>
            <a:pPr indent="0" lvl="0" marL="0" rtl="0" algn="l">
              <a:spcBef>
                <a:spcPts val="0"/>
              </a:spcBef>
              <a:spcAft>
                <a:spcPts val="0"/>
              </a:spcAft>
              <a:buNone/>
            </a:pPr>
            <a:r>
              <a:rPr lang="en">
                <a:solidFill>
                  <a:schemeClr val="dk1"/>
                </a:solidFill>
              </a:rPr>
              <a:t>you would tokenize</a:t>
            </a:r>
            <a:endParaRPr>
              <a:solidFill>
                <a:schemeClr val="dk1"/>
              </a:solidFill>
            </a:endParaRPr>
          </a:p>
          <a:p>
            <a:pPr indent="0" lvl="0" marL="0" rtl="0" algn="l">
              <a:spcBef>
                <a:spcPts val="0"/>
              </a:spcBef>
              <a:spcAft>
                <a:spcPts val="0"/>
              </a:spcAft>
              <a:buNone/>
            </a:pPr>
            <a:r>
              <a:rPr lang="en">
                <a:solidFill>
                  <a:schemeClr val="dk1"/>
                </a:solidFill>
              </a:rPr>
              <a:t>• if using an LLM, zero-shot or few-shot? if few-shot, how did you</a:t>
            </a:r>
            <a:endParaRPr>
              <a:solidFill>
                <a:schemeClr val="dk1"/>
              </a:solidFill>
            </a:endParaRPr>
          </a:p>
          <a:p>
            <a:pPr indent="0" lvl="0" marL="0" rtl="0" algn="l">
              <a:spcBef>
                <a:spcPts val="0"/>
              </a:spcBef>
              <a:spcAft>
                <a:spcPts val="0"/>
              </a:spcAft>
              <a:buNone/>
            </a:pPr>
            <a:r>
              <a:rPr lang="en">
                <a:solidFill>
                  <a:schemeClr val="dk1"/>
                </a:solidFill>
              </a:rPr>
              <a:t>select your examples?</a:t>
            </a:r>
            <a:endParaRPr>
              <a:solidFill>
                <a:schemeClr val="dk1"/>
              </a:solidFill>
            </a:endParaRPr>
          </a:p>
          <a:p>
            <a:pPr indent="0" lvl="0" marL="0" rtl="0" algn="l">
              <a:spcBef>
                <a:spcPts val="0"/>
              </a:spcBef>
              <a:spcAft>
                <a:spcPts val="0"/>
              </a:spcAft>
              <a:buNone/>
            </a:pPr>
            <a:r>
              <a:rPr lang="en">
                <a:solidFill>
                  <a:schemeClr val="dk1"/>
                </a:solidFill>
              </a:rPr>
              <a:t>• if using an LLM what exactly was your prompt? how did you select</a:t>
            </a:r>
            <a:endParaRPr>
              <a:solidFill>
                <a:schemeClr val="dk1"/>
              </a:solidFill>
            </a:endParaRPr>
          </a:p>
          <a:p>
            <a:pPr indent="0" lvl="0" marL="0" rtl="0" algn="l">
              <a:spcBef>
                <a:spcPts val="0"/>
              </a:spcBef>
              <a:spcAft>
                <a:spcPts val="0"/>
              </a:spcAft>
              <a:buNone/>
            </a:pPr>
            <a:r>
              <a:rPr lang="en">
                <a:solidFill>
                  <a:schemeClr val="dk1"/>
                </a:solidFill>
              </a:rPr>
              <a:t>this prompt, and did you experiment with different prompts?</a:t>
            </a:r>
            <a:endParaRPr>
              <a:solidFill>
                <a:schemeClr val="dk1"/>
              </a:solidFill>
            </a:endParaRPr>
          </a:p>
          <a:p>
            <a:pPr indent="0" lvl="0" marL="0" rtl="0" algn="l">
              <a:spcBef>
                <a:spcPts val="0"/>
              </a:spcBef>
              <a:spcAft>
                <a:spcPts val="0"/>
              </a:spcAft>
              <a:buNone/>
            </a:pPr>
            <a:r>
              <a:rPr lang="en">
                <a:solidFill>
                  <a:schemeClr val="dk1"/>
                </a:solidFill>
              </a:rPr>
              <a:t>• If you did data augmentation or transfer learning, explain!</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Contextual understanding (biggest advantage)</a:t>
            </a:r>
            <a:br>
              <a:rPr b="1" lang="en">
                <a:solidFill>
                  <a:schemeClr val="dk1"/>
                </a:solidFill>
              </a:rPr>
            </a:br>
            <a:r>
              <a:rPr lang="en">
                <a:solidFill>
                  <a:schemeClr val="dk1"/>
                </a:solidFill>
              </a:rPr>
              <a:t> Unlike traditional models that rely on fixed features (word counts, sentence length, etc.), BERT understands </a:t>
            </a:r>
            <a:r>
              <a:rPr i="1" lang="en">
                <a:solidFill>
                  <a:schemeClr val="dk1"/>
                </a:solidFill>
              </a:rPr>
              <a:t>context</a:t>
            </a:r>
            <a:r>
              <a:rPr lang="en">
                <a:solidFill>
                  <a:schemeClr val="dk1"/>
                </a:solidFill>
              </a:rPr>
              <a:t>. The same word or structure can signal different difficulty levels depending on usage, and BERT captures that through its bidirectional training.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Sensitivity to subtle linguistic differences</a:t>
            </a:r>
            <a:br>
              <a:rPr b="1" lang="en">
                <a:solidFill>
                  <a:schemeClr val="dk1"/>
                </a:solidFill>
              </a:rPr>
            </a:br>
            <a:r>
              <a:rPr lang="en">
                <a:solidFill>
                  <a:schemeClr val="dk1"/>
                </a:solidFill>
              </a:rPr>
              <a:t> CEFR levels (especially adjacent ones like B1 vs B2) differ in nuanced ways—grammar complexity, phrasing, idiomatic usage. BERT is pretrained on large corpora and learns these patterns implicitly, making it much better at distinguishing those fine differences than feature-based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Strong performance with limited labeled data</a:t>
            </a:r>
            <a:br>
              <a:rPr b="1" lang="en">
                <a:solidFill>
                  <a:schemeClr val="dk1"/>
                </a:solidFill>
              </a:rPr>
            </a:br>
            <a:r>
              <a:rPr lang="en">
                <a:solidFill>
                  <a:schemeClr val="dk1"/>
                </a:solidFill>
              </a:rPr>
              <a:t> You have ~17,000 labeled sentences, which is solid but not huge. Because BERT is pretrained, fine-tuning it on your dataset lets you leverage massive prior knowledge instead of learning everything from scratch.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Handles sentence-level classification well</a:t>
            </a:r>
            <a:br>
              <a:rPr b="1" lang="en">
                <a:solidFill>
                  <a:schemeClr val="dk1"/>
                </a:solidFill>
              </a:rPr>
            </a:br>
            <a:r>
              <a:rPr lang="en">
                <a:solidFill>
                  <a:schemeClr val="dk1"/>
                </a:solidFill>
              </a:rPr>
              <a:t> Your task is sentence-level CEFR classification. BERT is specifically designed for tasks like this (sequence classification), so it maps cleanly onto your problem setup.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Robust to class imbalance (with tuning)</a:t>
            </a:r>
            <a:br>
              <a:rPr b="1" lang="en">
                <a:solidFill>
                  <a:schemeClr val="dk1"/>
                </a:solidFill>
              </a:rPr>
            </a:br>
            <a:r>
              <a:rPr lang="en">
                <a:solidFill>
                  <a:schemeClr val="dk1"/>
                </a:solidFill>
              </a:rPr>
              <a:t> While not inherently solving imbalance, BERT tends to generalize better—so when you combine it with your planned techniques (loss weighting, augmentation), it’s more likely to improve performance on underrepresented classes (A1, C2).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6. Proven success in similar research</a:t>
            </a:r>
            <a:br>
              <a:rPr b="1" lang="en">
                <a:solidFill>
                  <a:schemeClr val="dk1"/>
                </a:solidFill>
              </a:rPr>
            </a:br>
            <a:r>
              <a:rPr lang="en">
                <a:solidFill>
                  <a:schemeClr val="dk1"/>
                </a:solidFill>
              </a:rPr>
              <a:t> Your proposal already hints at this—there’s prior work using BERT embeddings for CEFR classification. That gives you a strong empirical foundation and justification.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a425c8cf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a425c8cf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dc150051c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dc150051c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where did you get the original dataset?</a:t>
            </a:r>
            <a:endParaRPr/>
          </a:p>
          <a:p>
            <a:pPr indent="0" lvl="0" marL="0" rtl="0" algn="l">
              <a:spcBef>
                <a:spcPts val="0"/>
              </a:spcBef>
              <a:spcAft>
                <a:spcPts val="0"/>
              </a:spcAft>
              <a:buClr>
                <a:schemeClr val="dk1"/>
              </a:buClr>
              <a:buSzPts val="1100"/>
              <a:buFont typeface="Arial"/>
              <a:buNone/>
            </a:pPr>
            <a:r>
              <a:rPr lang="en"/>
              <a:t>• how did you turn that dataset into the dataset you used for this</a:t>
            </a:r>
            <a:endParaRPr/>
          </a:p>
          <a:p>
            <a:pPr indent="0" lvl="0" marL="0" rtl="0" algn="l">
              <a:spcBef>
                <a:spcPts val="0"/>
              </a:spcBef>
              <a:spcAft>
                <a:spcPts val="0"/>
              </a:spcAft>
              <a:buClr>
                <a:schemeClr val="dk1"/>
              </a:buClr>
              <a:buSzPts val="1100"/>
              <a:buFont typeface="Arial"/>
              <a:buNone/>
            </a:pPr>
            <a:r>
              <a:rPr lang="en"/>
              <a:t>class? (e.g., did you reduce the size? did you collapse labels? did you</a:t>
            </a:r>
            <a:endParaRPr/>
          </a:p>
          <a:p>
            <a:pPr indent="0" lvl="0" marL="0" rtl="0" algn="l">
              <a:spcBef>
                <a:spcPts val="0"/>
              </a:spcBef>
              <a:spcAft>
                <a:spcPts val="0"/>
              </a:spcAft>
              <a:buClr>
                <a:schemeClr val="dk1"/>
              </a:buClr>
              <a:buSzPts val="1100"/>
              <a:buFont typeface="Arial"/>
              <a:buNone/>
            </a:pPr>
            <a:r>
              <a:rPr lang="en"/>
              <a:t>combine two different datasets?)</a:t>
            </a:r>
            <a:endParaRPr/>
          </a:p>
          <a:p>
            <a:pPr indent="0" lvl="0" marL="0" rtl="0" algn="l">
              <a:spcBef>
                <a:spcPts val="0"/>
              </a:spcBef>
              <a:spcAft>
                <a:spcPts val="0"/>
              </a:spcAft>
              <a:buClr>
                <a:schemeClr val="dk1"/>
              </a:buClr>
              <a:buSzPts val="1100"/>
              <a:buFont typeface="Arial"/>
              <a:buNone/>
            </a:pPr>
            <a:r>
              <a:rPr lang="en"/>
              <a:t>• how many documents/samples? (e.g., for restaurant reviews, how</a:t>
            </a:r>
            <a:endParaRPr/>
          </a:p>
          <a:p>
            <a:pPr indent="0" lvl="0" marL="0" rtl="0" algn="l">
              <a:spcBef>
                <a:spcPts val="0"/>
              </a:spcBef>
              <a:spcAft>
                <a:spcPts val="0"/>
              </a:spcAft>
              <a:buClr>
                <a:schemeClr val="dk1"/>
              </a:buClr>
              <a:buSzPts val="1100"/>
              <a:buFont typeface="Arial"/>
              <a:buNone/>
            </a:pPr>
            <a:r>
              <a:rPr lang="en"/>
              <a:t>many reviews? how many restaurants? how many restaurants in each</a:t>
            </a:r>
            <a:endParaRPr/>
          </a:p>
          <a:p>
            <a:pPr indent="0" lvl="0" marL="0" rtl="0" algn="l">
              <a:spcBef>
                <a:spcPts val="0"/>
              </a:spcBef>
              <a:spcAft>
                <a:spcPts val="0"/>
              </a:spcAft>
              <a:buClr>
                <a:schemeClr val="dk1"/>
              </a:buClr>
              <a:buSzPts val="1100"/>
              <a:buFont typeface="Arial"/>
              <a:buNone/>
            </a:pPr>
            <a:r>
              <a:rPr lang="en"/>
              <a:t>category?)</a:t>
            </a:r>
            <a:endParaRPr/>
          </a:p>
          <a:p>
            <a:pPr indent="0" lvl="0" marL="0" rtl="0" algn="l">
              <a:spcBef>
                <a:spcPts val="0"/>
              </a:spcBef>
              <a:spcAft>
                <a:spcPts val="0"/>
              </a:spcAft>
              <a:buClr>
                <a:schemeClr val="dk1"/>
              </a:buClr>
              <a:buSzPts val="1100"/>
              <a:buFont typeface="Arial"/>
              <a:buNone/>
            </a:pPr>
            <a:r>
              <a:rPr lang="en"/>
              <a:t>• how many sentences/tokens per document/sample on average?</a:t>
            </a:r>
            <a:endParaRPr/>
          </a:p>
          <a:p>
            <a:pPr indent="0" lvl="0" marL="0" rtl="0" algn="l">
              <a:spcBef>
                <a:spcPts val="0"/>
              </a:spcBef>
              <a:spcAft>
                <a:spcPts val="0"/>
              </a:spcAft>
              <a:buClr>
                <a:schemeClr val="dk1"/>
              </a:buClr>
              <a:buSzPts val="1100"/>
              <a:buFont typeface="Arial"/>
              <a:buNone/>
            </a:pPr>
            <a:r>
              <a:rPr lang="en"/>
              <a:t>• what problems did you run into (e.g., funky special characters)</a:t>
            </a:r>
            <a:endParaRPr/>
          </a:p>
          <a:p>
            <a:pPr indent="0" lvl="0" marL="0" rtl="0" algn="l">
              <a:spcBef>
                <a:spcPts val="0"/>
              </a:spcBef>
              <a:spcAft>
                <a:spcPts val="0"/>
              </a:spcAft>
              <a:buClr>
                <a:schemeClr val="dk1"/>
              </a:buClr>
              <a:buSzPts val="1100"/>
              <a:buFont typeface="Arial"/>
              <a:buNone/>
            </a:pPr>
            <a:r>
              <a:rPr lang="en"/>
              <a:t>• what are some interesting things you learned about your data?</a:t>
            </a:r>
            <a:endParaRPr/>
          </a:p>
          <a:p>
            <a:pPr indent="0" lvl="0" marL="0" rtl="0" algn="l">
              <a:spcBef>
                <a:spcPts val="0"/>
              </a:spcBef>
              <a:spcAft>
                <a:spcPts val="0"/>
              </a:spcAft>
              <a:buClr>
                <a:schemeClr val="dk1"/>
              </a:buClr>
              <a:buSzPts val="1100"/>
              <a:buFont typeface="Arial"/>
              <a:buNone/>
            </a:pPr>
            <a:r>
              <a:rPr lang="en"/>
              <a:t>• You must use at least one table and at least one visualization</a:t>
            </a:r>
            <a:endParaRPr/>
          </a:p>
          <a:p>
            <a:pPr indent="0" lvl="0" marL="0" rtl="0" algn="l">
              <a:spcBef>
                <a:spcPts val="0"/>
              </a:spcBef>
              <a:spcAft>
                <a:spcPts val="0"/>
              </a:spcAft>
              <a:buClr>
                <a:schemeClr val="dk1"/>
              </a:buClr>
              <a:buSzPts val="1100"/>
              <a:buFont typeface="Arial"/>
              <a:buNone/>
            </a:pPr>
            <a:r>
              <a:rPr lang="en"/>
              <a:t>• You must provide examples from your dataset presented in a way</a:t>
            </a:r>
            <a:endParaRPr/>
          </a:p>
          <a:p>
            <a:pPr indent="0" lvl="0" marL="0" rtl="0" algn="l">
              <a:spcBef>
                <a:spcPts val="0"/>
              </a:spcBef>
              <a:spcAft>
                <a:spcPts val="0"/>
              </a:spcAft>
              <a:buClr>
                <a:schemeClr val="dk1"/>
              </a:buClr>
              <a:buSzPts val="1100"/>
              <a:buFont typeface="Arial"/>
              <a:buNone/>
            </a:pPr>
            <a:r>
              <a:rPr lang="en"/>
              <a:t>that is not a screenshot or ugly python output (more on that soon)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79fbaa5a0_79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979fbaa5a0_79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You must include</a:t>
            </a:r>
            <a:endParaRPr>
              <a:solidFill>
                <a:schemeClr val="dk1"/>
              </a:solidFill>
            </a:endParaRPr>
          </a:p>
          <a:p>
            <a:pPr indent="0" lvl="0" marL="0" rtl="0" algn="l">
              <a:spcBef>
                <a:spcPts val="0"/>
              </a:spcBef>
              <a:spcAft>
                <a:spcPts val="0"/>
              </a:spcAft>
              <a:buNone/>
            </a:pPr>
            <a:r>
              <a:rPr lang="en">
                <a:solidFill>
                  <a:schemeClr val="dk1"/>
                </a:solidFill>
              </a:rPr>
              <a:t>• Tables</a:t>
            </a:r>
            <a:endParaRPr>
              <a:solidFill>
                <a:schemeClr val="dk1"/>
              </a:solidFill>
            </a:endParaRPr>
          </a:p>
          <a:p>
            <a:pPr indent="0" lvl="0" marL="0" rtl="0" algn="l">
              <a:spcBef>
                <a:spcPts val="0"/>
              </a:spcBef>
              <a:spcAft>
                <a:spcPts val="0"/>
              </a:spcAft>
              <a:buNone/>
            </a:pPr>
            <a:r>
              <a:rPr lang="en">
                <a:solidFill>
                  <a:schemeClr val="dk1"/>
                </a:solidFill>
              </a:rPr>
              <a:t>• Visualizations</a:t>
            </a:r>
            <a:endParaRPr>
              <a:solidFill>
                <a:schemeClr val="dk1"/>
              </a:solidFill>
            </a:endParaRPr>
          </a:p>
          <a:p>
            <a:pPr indent="0" lvl="0" marL="0" rtl="0" algn="l">
              <a:spcBef>
                <a:spcPts val="0"/>
              </a:spcBef>
              <a:spcAft>
                <a:spcPts val="0"/>
              </a:spcAft>
              <a:buNone/>
            </a:pPr>
            <a:r>
              <a:rPr lang="en">
                <a:solidFill>
                  <a:schemeClr val="dk1"/>
                </a:solidFill>
              </a:rPr>
              <a:t>• Baselines!!!</a:t>
            </a:r>
            <a:endParaRPr>
              <a:solidFill>
                <a:schemeClr val="dk1"/>
              </a:solidFill>
            </a:endParaRPr>
          </a:p>
          <a:p>
            <a:pPr indent="0" lvl="0" marL="0" rtl="0" algn="l">
              <a:spcBef>
                <a:spcPts val="0"/>
              </a:spcBef>
              <a:spcAft>
                <a:spcPts val="0"/>
              </a:spcAft>
              <a:buNone/>
            </a:pPr>
            <a:r>
              <a:rPr lang="en">
                <a:solidFill>
                  <a:schemeClr val="dk1"/>
                </a:solidFill>
              </a:rPr>
              <a:t>• Do not include:</a:t>
            </a:r>
            <a:endParaRPr>
              <a:solidFill>
                <a:schemeClr val="dk1"/>
              </a:solidFill>
            </a:endParaRPr>
          </a:p>
          <a:p>
            <a:pPr indent="0" lvl="0" marL="0" rtl="0" algn="l">
              <a:spcBef>
                <a:spcPts val="0"/>
              </a:spcBef>
              <a:spcAft>
                <a:spcPts val="0"/>
              </a:spcAft>
              <a:buNone/>
            </a:pPr>
            <a:r>
              <a:rPr lang="en">
                <a:solidFill>
                  <a:schemeClr val="dk1"/>
                </a:solidFill>
              </a:rPr>
              <a:t>• copied-and-pasted Python output</a:t>
            </a:r>
            <a:endParaRPr>
              <a:solidFill>
                <a:schemeClr val="dk1"/>
              </a:solidFill>
            </a:endParaRPr>
          </a:p>
          <a:p>
            <a:pPr indent="0" lvl="0" marL="0" rtl="0" algn="l">
              <a:spcBef>
                <a:spcPts val="0"/>
              </a:spcBef>
              <a:spcAft>
                <a:spcPts val="0"/>
              </a:spcAft>
              <a:buNone/>
            </a:pPr>
            <a:r>
              <a:rPr lang="en">
                <a:solidFill>
                  <a:schemeClr val="dk1"/>
                </a:solidFill>
              </a:rPr>
              <a:t>• this will result in an automatic deduction in your grade</a:t>
            </a:r>
            <a:endParaRPr>
              <a:solidFill>
                <a:schemeClr val="dk1"/>
              </a:solidFill>
            </a:endParaRPr>
          </a:p>
          <a:p>
            <a:pPr indent="0" lvl="0" marL="0" rtl="0" algn="l">
              <a:spcBef>
                <a:spcPts val="0"/>
              </a:spcBef>
              <a:spcAft>
                <a:spcPts val="0"/>
              </a:spcAft>
              <a:buNone/>
            </a:pPr>
            <a:r>
              <a:rPr lang="en">
                <a:solidFill>
                  <a:schemeClr val="dk1"/>
                </a:solidFill>
              </a:rPr>
              <a:t>• lists of words that are really long and have to be printed in very</a:t>
            </a:r>
            <a:endParaRPr>
              <a:solidFill>
                <a:schemeClr val="dk1"/>
              </a:solidFill>
            </a:endParaRPr>
          </a:p>
          <a:p>
            <a:pPr indent="0" lvl="0" marL="0" rtl="0" algn="l">
              <a:spcBef>
                <a:spcPts val="0"/>
              </a:spcBef>
              <a:spcAft>
                <a:spcPts val="0"/>
              </a:spcAft>
              <a:buNone/>
            </a:pPr>
            <a:r>
              <a:rPr lang="en">
                <a:solidFill>
                  <a:schemeClr val="dk1"/>
                </a:solidFill>
              </a:rPr>
              <a:t>small font to fit on a slide</a:t>
            </a:r>
            <a:endParaRPr>
              <a:solidFill>
                <a:schemeClr val="dk1"/>
              </a:solidFill>
            </a:endParaRPr>
          </a:p>
          <a:p>
            <a:pPr indent="0" lvl="0" marL="0" rtl="0" algn="l">
              <a:spcBef>
                <a:spcPts val="0"/>
              </a:spcBef>
              <a:spcAft>
                <a:spcPts val="0"/>
              </a:spcAft>
              <a:buNone/>
            </a:pPr>
            <a:r>
              <a:rPr lang="en">
                <a:solidFill>
                  <a:schemeClr val="dk1"/>
                </a:solidFill>
              </a:rPr>
              <a:t>• numbers with more than 4 digits passed the decimal point</a:t>
            </a:r>
            <a:endParaRPr>
              <a:solidFill>
                <a:schemeClr val="dk1"/>
              </a:solidFill>
            </a:endParaRPr>
          </a:p>
          <a:p>
            <a:pPr indent="0" lvl="0" marL="0" rtl="0" algn="l">
              <a:spcBef>
                <a:spcPts val="0"/>
              </a:spcBef>
              <a:spcAft>
                <a:spcPts val="0"/>
              </a:spcAft>
              <a:buNone/>
            </a:pPr>
            <a:r>
              <a:rPr lang="en">
                <a:solidFill>
                  <a:schemeClr val="dk1"/>
                </a:solidFill>
              </a:rPr>
              <a:t>• low-res screenshots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d95b4b3e7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d95b4b3e7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You must include</a:t>
            </a:r>
            <a:endParaRPr>
              <a:solidFill>
                <a:schemeClr val="dk1"/>
              </a:solidFill>
            </a:endParaRPr>
          </a:p>
          <a:p>
            <a:pPr indent="0" lvl="0" marL="0" rtl="0" algn="l">
              <a:spcBef>
                <a:spcPts val="0"/>
              </a:spcBef>
              <a:spcAft>
                <a:spcPts val="0"/>
              </a:spcAft>
              <a:buNone/>
            </a:pPr>
            <a:r>
              <a:rPr lang="en">
                <a:solidFill>
                  <a:schemeClr val="dk1"/>
                </a:solidFill>
              </a:rPr>
              <a:t>• Tables</a:t>
            </a:r>
            <a:endParaRPr>
              <a:solidFill>
                <a:schemeClr val="dk1"/>
              </a:solidFill>
            </a:endParaRPr>
          </a:p>
          <a:p>
            <a:pPr indent="0" lvl="0" marL="0" rtl="0" algn="l">
              <a:spcBef>
                <a:spcPts val="0"/>
              </a:spcBef>
              <a:spcAft>
                <a:spcPts val="0"/>
              </a:spcAft>
              <a:buNone/>
            </a:pPr>
            <a:r>
              <a:rPr lang="en">
                <a:solidFill>
                  <a:schemeClr val="dk1"/>
                </a:solidFill>
              </a:rPr>
              <a:t>• Visualizations</a:t>
            </a:r>
            <a:endParaRPr>
              <a:solidFill>
                <a:schemeClr val="dk1"/>
              </a:solidFill>
            </a:endParaRPr>
          </a:p>
          <a:p>
            <a:pPr indent="0" lvl="0" marL="0" rtl="0" algn="l">
              <a:spcBef>
                <a:spcPts val="0"/>
              </a:spcBef>
              <a:spcAft>
                <a:spcPts val="0"/>
              </a:spcAft>
              <a:buNone/>
            </a:pPr>
            <a:r>
              <a:rPr lang="en">
                <a:solidFill>
                  <a:schemeClr val="dk1"/>
                </a:solidFill>
              </a:rPr>
              <a:t>• Baselines!!!</a:t>
            </a:r>
            <a:endParaRPr>
              <a:solidFill>
                <a:schemeClr val="dk1"/>
              </a:solidFill>
            </a:endParaRPr>
          </a:p>
          <a:p>
            <a:pPr indent="0" lvl="0" marL="0" rtl="0" algn="l">
              <a:spcBef>
                <a:spcPts val="0"/>
              </a:spcBef>
              <a:spcAft>
                <a:spcPts val="0"/>
              </a:spcAft>
              <a:buNone/>
            </a:pPr>
            <a:r>
              <a:rPr lang="en">
                <a:solidFill>
                  <a:schemeClr val="dk1"/>
                </a:solidFill>
              </a:rPr>
              <a:t>• Do not include:</a:t>
            </a:r>
            <a:endParaRPr>
              <a:solidFill>
                <a:schemeClr val="dk1"/>
              </a:solidFill>
            </a:endParaRPr>
          </a:p>
          <a:p>
            <a:pPr indent="0" lvl="0" marL="0" rtl="0" algn="l">
              <a:spcBef>
                <a:spcPts val="0"/>
              </a:spcBef>
              <a:spcAft>
                <a:spcPts val="0"/>
              </a:spcAft>
              <a:buNone/>
            </a:pPr>
            <a:r>
              <a:rPr lang="en">
                <a:solidFill>
                  <a:schemeClr val="dk1"/>
                </a:solidFill>
              </a:rPr>
              <a:t>• copied-and-pasted Python output</a:t>
            </a:r>
            <a:endParaRPr>
              <a:solidFill>
                <a:schemeClr val="dk1"/>
              </a:solidFill>
            </a:endParaRPr>
          </a:p>
          <a:p>
            <a:pPr indent="0" lvl="0" marL="0" rtl="0" algn="l">
              <a:spcBef>
                <a:spcPts val="0"/>
              </a:spcBef>
              <a:spcAft>
                <a:spcPts val="0"/>
              </a:spcAft>
              <a:buNone/>
            </a:pPr>
            <a:r>
              <a:rPr lang="en">
                <a:solidFill>
                  <a:schemeClr val="dk1"/>
                </a:solidFill>
              </a:rPr>
              <a:t>• this will result in an automatic deduction in your grade</a:t>
            </a:r>
            <a:endParaRPr>
              <a:solidFill>
                <a:schemeClr val="dk1"/>
              </a:solidFill>
            </a:endParaRPr>
          </a:p>
          <a:p>
            <a:pPr indent="0" lvl="0" marL="0" rtl="0" algn="l">
              <a:spcBef>
                <a:spcPts val="0"/>
              </a:spcBef>
              <a:spcAft>
                <a:spcPts val="0"/>
              </a:spcAft>
              <a:buNone/>
            </a:pPr>
            <a:r>
              <a:rPr lang="en">
                <a:solidFill>
                  <a:schemeClr val="dk1"/>
                </a:solidFill>
              </a:rPr>
              <a:t>• lists of words that are really long and have to be printed in very</a:t>
            </a:r>
            <a:endParaRPr>
              <a:solidFill>
                <a:schemeClr val="dk1"/>
              </a:solidFill>
            </a:endParaRPr>
          </a:p>
          <a:p>
            <a:pPr indent="0" lvl="0" marL="0" rtl="0" algn="l">
              <a:spcBef>
                <a:spcPts val="0"/>
              </a:spcBef>
              <a:spcAft>
                <a:spcPts val="0"/>
              </a:spcAft>
              <a:buNone/>
            </a:pPr>
            <a:r>
              <a:rPr lang="en">
                <a:solidFill>
                  <a:schemeClr val="dk1"/>
                </a:solidFill>
              </a:rPr>
              <a:t>small font to fit on a slide</a:t>
            </a:r>
            <a:endParaRPr>
              <a:solidFill>
                <a:schemeClr val="dk1"/>
              </a:solidFill>
            </a:endParaRPr>
          </a:p>
          <a:p>
            <a:pPr indent="0" lvl="0" marL="0" rtl="0" algn="l">
              <a:spcBef>
                <a:spcPts val="0"/>
              </a:spcBef>
              <a:spcAft>
                <a:spcPts val="0"/>
              </a:spcAft>
              <a:buNone/>
            </a:pPr>
            <a:r>
              <a:rPr lang="en">
                <a:solidFill>
                  <a:schemeClr val="dk1"/>
                </a:solidFill>
              </a:rPr>
              <a:t>• numbers with more than 4 digits passed the decimal point</a:t>
            </a:r>
            <a:endParaRPr>
              <a:solidFill>
                <a:schemeClr val="dk1"/>
              </a:solidFill>
            </a:endParaRPr>
          </a:p>
          <a:p>
            <a:pPr indent="0" lvl="0" marL="0" rtl="0" algn="l">
              <a:spcBef>
                <a:spcPts val="0"/>
              </a:spcBef>
              <a:spcAft>
                <a:spcPts val="0"/>
              </a:spcAft>
              <a:buNone/>
            </a:pPr>
            <a:r>
              <a:rPr lang="en">
                <a:solidFill>
                  <a:schemeClr val="dk1"/>
                </a:solidFill>
              </a:rPr>
              <a:t>• low-res screenshots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79fbaa5a0_79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79fbaa5a0_79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You must include</a:t>
            </a:r>
            <a:endParaRPr>
              <a:solidFill>
                <a:schemeClr val="dk1"/>
              </a:solidFill>
            </a:endParaRPr>
          </a:p>
          <a:p>
            <a:pPr indent="0" lvl="0" marL="0" rtl="0" algn="l">
              <a:spcBef>
                <a:spcPts val="0"/>
              </a:spcBef>
              <a:spcAft>
                <a:spcPts val="0"/>
              </a:spcAft>
              <a:buNone/>
            </a:pPr>
            <a:r>
              <a:rPr lang="en">
                <a:solidFill>
                  <a:schemeClr val="dk1"/>
                </a:solidFill>
              </a:rPr>
              <a:t>• Tables</a:t>
            </a:r>
            <a:endParaRPr>
              <a:solidFill>
                <a:schemeClr val="dk1"/>
              </a:solidFill>
            </a:endParaRPr>
          </a:p>
          <a:p>
            <a:pPr indent="0" lvl="0" marL="0" rtl="0" algn="l">
              <a:spcBef>
                <a:spcPts val="0"/>
              </a:spcBef>
              <a:spcAft>
                <a:spcPts val="0"/>
              </a:spcAft>
              <a:buNone/>
            </a:pPr>
            <a:r>
              <a:rPr lang="en">
                <a:solidFill>
                  <a:schemeClr val="dk1"/>
                </a:solidFill>
              </a:rPr>
              <a:t>• Visualizations</a:t>
            </a:r>
            <a:endParaRPr>
              <a:solidFill>
                <a:schemeClr val="dk1"/>
              </a:solidFill>
            </a:endParaRPr>
          </a:p>
          <a:p>
            <a:pPr indent="0" lvl="0" marL="0" rtl="0" algn="l">
              <a:spcBef>
                <a:spcPts val="0"/>
              </a:spcBef>
              <a:spcAft>
                <a:spcPts val="0"/>
              </a:spcAft>
              <a:buNone/>
            </a:pPr>
            <a:r>
              <a:rPr lang="en">
                <a:solidFill>
                  <a:schemeClr val="dk1"/>
                </a:solidFill>
              </a:rPr>
              <a:t>• Baselines!!!</a:t>
            </a:r>
            <a:endParaRPr>
              <a:solidFill>
                <a:schemeClr val="dk1"/>
              </a:solidFill>
            </a:endParaRPr>
          </a:p>
          <a:p>
            <a:pPr indent="0" lvl="0" marL="0" rtl="0" algn="l">
              <a:spcBef>
                <a:spcPts val="0"/>
              </a:spcBef>
              <a:spcAft>
                <a:spcPts val="0"/>
              </a:spcAft>
              <a:buNone/>
            </a:pPr>
            <a:r>
              <a:rPr lang="en">
                <a:solidFill>
                  <a:schemeClr val="dk1"/>
                </a:solidFill>
              </a:rPr>
              <a:t>• Do not include:</a:t>
            </a:r>
            <a:endParaRPr>
              <a:solidFill>
                <a:schemeClr val="dk1"/>
              </a:solidFill>
            </a:endParaRPr>
          </a:p>
          <a:p>
            <a:pPr indent="0" lvl="0" marL="0" rtl="0" algn="l">
              <a:spcBef>
                <a:spcPts val="0"/>
              </a:spcBef>
              <a:spcAft>
                <a:spcPts val="0"/>
              </a:spcAft>
              <a:buNone/>
            </a:pPr>
            <a:r>
              <a:rPr lang="en">
                <a:solidFill>
                  <a:schemeClr val="dk1"/>
                </a:solidFill>
              </a:rPr>
              <a:t>• copied-and-pasted Python output</a:t>
            </a:r>
            <a:endParaRPr>
              <a:solidFill>
                <a:schemeClr val="dk1"/>
              </a:solidFill>
            </a:endParaRPr>
          </a:p>
          <a:p>
            <a:pPr indent="0" lvl="0" marL="0" rtl="0" algn="l">
              <a:spcBef>
                <a:spcPts val="0"/>
              </a:spcBef>
              <a:spcAft>
                <a:spcPts val="0"/>
              </a:spcAft>
              <a:buNone/>
            </a:pPr>
            <a:r>
              <a:rPr lang="en">
                <a:solidFill>
                  <a:schemeClr val="dk1"/>
                </a:solidFill>
              </a:rPr>
              <a:t>• this will result in an automatic deduction in your grade</a:t>
            </a:r>
            <a:endParaRPr>
              <a:solidFill>
                <a:schemeClr val="dk1"/>
              </a:solidFill>
            </a:endParaRPr>
          </a:p>
          <a:p>
            <a:pPr indent="0" lvl="0" marL="0" rtl="0" algn="l">
              <a:spcBef>
                <a:spcPts val="0"/>
              </a:spcBef>
              <a:spcAft>
                <a:spcPts val="0"/>
              </a:spcAft>
              <a:buNone/>
            </a:pPr>
            <a:r>
              <a:rPr lang="en">
                <a:solidFill>
                  <a:schemeClr val="dk1"/>
                </a:solidFill>
              </a:rPr>
              <a:t>• lists of words that are really long and have to be printed in very</a:t>
            </a:r>
            <a:endParaRPr>
              <a:solidFill>
                <a:schemeClr val="dk1"/>
              </a:solidFill>
            </a:endParaRPr>
          </a:p>
          <a:p>
            <a:pPr indent="0" lvl="0" marL="0" rtl="0" algn="l">
              <a:spcBef>
                <a:spcPts val="0"/>
              </a:spcBef>
              <a:spcAft>
                <a:spcPts val="0"/>
              </a:spcAft>
              <a:buNone/>
            </a:pPr>
            <a:r>
              <a:rPr lang="en">
                <a:solidFill>
                  <a:schemeClr val="dk1"/>
                </a:solidFill>
              </a:rPr>
              <a:t>small font to fit on a slide</a:t>
            </a:r>
            <a:endParaRPr>
              <a:solidFill>
                <a:schemeClr val="dk1"/>
              </a:solidFill>
            </a:endParaRPr>
          </a:p>
          <a:p>
            <a:pPr indent="0" lvl="0" marL="0" rtl="0" algn="l">
              <a:spcBef>
                <a:spcPts val="0"/>
              </a:spcBef>
              <a:spcAft>
                <a:spcPts val="0"/>
              </a:spcAft>
              <a:buNone/>
            </a:pPr>
            <a:r>
              <a:rPr lang="en">
                <a:solidFill>
                  <a:schemeClr val="dk1"/>
                </a:solidFill>
              </a:rPr>
              <a:t>• numbers with more than 4 digits passed the decimal point</a:t>
            </a:r>
            <a:endParaRPr>
              <a:solidFill>
                <a:schemeClr val="dk1"/>
              </a:solidFill>
            </a:endParaRPr>
          </a:p>
          <a:p>
            <a:pPr indent="0" lvl="0" marL="0" rtl="0" algn="l">
              <a:spcBef>
                <a:spcPts val="0"/>
              </a:spcBef>
              <a:spcAft>
                <a:spcPts val="0"/>
              </a:spcAft>
              <a:buNone/>
            </a:pPr>
            <a:r>
              <a:rPr lang="en">
                <a:solidFill>
                  <a:schemeClr val="dk1"/>
                </a:solidFill>
              </a:rPr>
              <a:t>• low-res screenshots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95b4b3e7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d95b4b3e7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You must include</a:t>
            </a:r>
            <a:endParaRPr>
              <a:solidFill>
                <a:schemeClr val="dk1"/>
              </a:solidFill>
            </a:endParaRPr>
          </a:p>
          <a:p>
            <a:pPr indent="0" lvl="0" marL="0" rtl="0" algn="l">
              <a:spcBef>
                <a:spcPts val="0"/>
              </a:spcBef>
              <a:spcAft>
                <a:spcPts val="0"/>
              </a:spcAft>
              <a:buNone/>
            </a:pPr>
            <a:r>
              <a:rPr lang="en">
                <a:solidFill>
                  <a:schemeClr val="dk1"/>
                </a:solidFill>
              </a:rPr>
              <a:t>• Tables</a:t>
            </a:r>
            <a:endParaRPr>
              <a:solidFill>
                <a:schemeClr val="dk1"/>
              </a:solidFill>
            </a:endParaRPr>
          </a:p>
          <a:p>
            <a:pPr indent="0" lvl="0" marL="0" rtl="0" algn="l">
              <a:spcBef>
                <a:spcPts val="0"/>
              </a:spcBef>
              <a:spcAft>
                <a:spcPts val="0"/>
              </a:spcAft>
              <a:buNone/>
            </a:pPr>
            <a:r>
              <a:rPr lang="en">
                <a:solidFill>
                  <a:schemeClr val="dk1"/>
                </a:solidFill>
              </a:rPr>
              <a:t>• Visualizations</a:t>
            </a:r>
            <a:endParaRPr>
              <a:solidFill>
                <a:schemeClr val="dk1"/>
              </a:solidFill>
            </a:endParaRPr>
          </a:p>
          <a:p>
            <a:pPr indent="0" lvl="0" marL="0" rtl="0" algn="l">
              <a:spcBef>
                <a:spcPts val="0"/>
              </a:spcBef>
              <a:spcAft>
                <a:spcPts val="0"/>
              </a:spcAft>
              <a:buNone/>
            </a:pPr>
            <a:r>
              <a:rPr lang="en">
                <a:solidFill>
                  <a:schemeClr val="dk1"/>
                </a:solidFill>
              </a:rPr>
              <a:t>• Baselines!!!</a:t>
            </a:r>
            <a:endParaRPr>
              <a:solidFill>
                <a:schemeClr val="dk1"/>
              </a:solidFill>
            </a:endParaRPr>
          </a:p>
          <a:p>
            <a:pPr indent="0" lvl="0" marL="0" rtl="0" algn="l">
              <a:spcBef>
                <a:spcPts val="0"/>
              </a:spcBef>
              <a:spcAft>
                <a:spcPts val="0"/>
              </a:spcAft>
              <a:buNone/>
            </a:pPr>
            <a:r>
              <a:rPr lang="en">
                <a:solidFill>
                  <a:schemeClr val="dk1"/>
                </a:solidFill>
              </a:rPr>
              <a:t>• Do not include:</a:t>
            </a:r>
            <a:endParaRPr>
              <a:solidFill>
                <a:schemeClr val="dk1"/>
              </a:solidFill>
            </a:endParaRPr>
          </a:p>
          <a:p>
            <a:pPr indent="0" lvl="0" marL="0" rtl="0" algn="l">
              <a:spcBef>
                <a:spcPts val="0"/>
              </a:spcBef>
              <a:spcAft>
                <a:spcPts val="0"/>
              </a:spcAft>
              <a:buNone/>
            </a:pPr>
            <a:r>
              <a:rPr lang="en">
                <a:solidFill>
                  <a:schemeClr val="dk1"/>
                </a:solidFill>
              </a:rPr>
              <a:t>• copied-and-pasted Python output</a:t>
            </a:r>
            <a:endParaRPr>
              <a:solidFill>
                <a:schemeClr val="dk1"/>
              </a:solidFill>
            </a:endParaRPr>
          </a:p>
          <a:p>
            <a:pPr indent="0" lvl="0" marL="0" rtl="0" algn="l">
              <a:spcBef>
                <a:spcPts val="0"/>
              </a:spcBef>
              <a:spcAft>
                <a:spcPts val="0"/>
              </a:spcAft>
              <a:buNone/>
            </a:pPr>
            <a:r>
              <a:rPr lang="en">
                <a:solidFill>
                  <a:schemeClr val="dk1"/>
                </a:solidFill>
              </a:rPr>
              <a:t>• this will result in an automatic deduction in your grade</a:t>
            </a:r>
            <a:endParaRPr>
              <a:solidFill>
                <a:schemeClr val="dk1"/>
              </a:solidFill>
            </a:endParaRPr>
          </a:p>
          <a:p>
            <a:pPr indent="0" lvl="0" marL="0" rtl="0" algn="l">
              <a:spcBef>
                <a:spcPts val="0"/>
              </a:spcBef>
              <a:spcAft>
                <a:spcPts val="0"/>
              </a:spcAft>
              <a:buNone/>
            </a:pPr>
            <a:r>
              <a:rPr lang="en">
                <a:solidFill>
                  <a:schemeClr val="dk1"/>
                </a:solidFill>
              </a:rPr>
              <a:t>• lists of words that are really long and have to be printed in very</a:t>
            </a:r>
            <a:endParaRPr>
              <a:solidFill>
                <a:schemeClr val="dk1"/>
              </a:solidFill>
            </a:endParaRPr>
          </a:p>
          <a:p>
            <a:pPr indent="0" lvl="0" marL="0" rtl="0" algn="l">
              <a:spcBef>
                <a:spcPts val="0"/>
              </a:spcBef>
              <a:spcAft>
                <a:spcPts val="0"/>
              </a:spcAft>
              <a:buNone/>
            </a:pPr>
            <a:r>
              <a:rPr lang="en">
                <a:solidFill>
                  <a:schemeClr val="dk1"/>
                </a:solidFill>
              </a:rPr>
              <a:t>small font to fit on a slide</a:t>
            </a:r>
            <a:endParaRPr>
              <a:solidFill>
                <a:schemeClr val="dk1"/>
              </a:solidFill>
            </a:endParaRPr>
          </a:p>
          <a:p>
            <a:pPr indent="0" lvl="0" marL="0" rtl="0" algn="l">
              <a:spcBef>
                <a:spcPts val="0"/>
              </a:spcBef>
              <a:spcAft>
                <a:spcPts val="0"/>
              </a:spcAft>
              <a:buNone/>
            </a:pPr>
            <a:r>
              <a:rPr lang="en">
                <a:solidFill>
                  <a:schemeClr val="dk1"/>
                </a:solidFill>
              </a:rPr>
              <a:t>• numbers with more than 4 digits passed the decimal point</a:t>
            </a:r>
            <a:endParaRPr>
              <a:solidFill>
                <a:schemeClr val="dk1"/>
              </a:solidFill>
            </a:endParaRPr>
          </a:p>
          <a:p>
            <a:pPr indent="0" lvl="0" marL="0" rtl="0" algn="l">
              <a:spcBef>
                <a:spcPts val="0"/>
              </a:spcBef>
              <a:spcAft>
                <a:spcPts val="0"/>
              </a:spcAft>
              <a:buNone/>
            </a:pPr>
            <a:r>
              <a:rPr lang="en">
                <a:solidFill>
                  <a:schemeClr val="dk1"/>
                </a:solidFill>
              </a:rPr>
              <a:t>• low-res screenshots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975508ede2_34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975508ede2_34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what else would you do if you had more time?</a:t>
            </a:r>
            <a:endParaRPr>
              <a:solidFill>
                <a:schemeClr val="dk1"/>
              </a:solidFill>
            </a:endParaRPr>
          </a:p>
          <a:p>
            <a:pPr indent="0" lvl="0" marL="0" rtl="0" algn="l">
              <a:spcBef>
                <a:spcPts val="0"/>
              </a:spcBef>
              <a:spcAft>
                <a:spcPts val="0"/>
              </a:spcAft>
              <a:buNone/>
            </a:pPr>
            <a:r>
              <a:rPr lang="en">
                <a:solidFill>
                  <a:schemeClr val="dk1"/>
                </a:solidFill>
              </a:rPr>
              <a:t>• what interesting things did you discover that surprised you?</a:t>
            </a:r>
            <a:endParaRPr>
              <a:solidFill>
                <a:schemeClr val="dk1"/>
              </a:solidFill>
            </a:endParaRPr>
          </a:p>
          <a:p>
            <a:pPr indent="0" lvl="0" marL="0" rtl="0" algn="l">
              <a:spcBef>
                <a:spcPts val="0"/>
              </a:spcBef>
              <a:spcAft>
                <a:spcPts val="0"/>
              </a:spcAft>
              <a:buNone/>
            </a:pPr>
            <a:r>
              <a:rPr lang="en">
                <a:solidFill>
                  <a:schemeClr val="dk1"/>
                </a:solidFill>
              </a:rPr>
              <a:t>• how would you address any problems you encountered?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979a449b51_13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979a449b51_13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what else would you do if you had more time?</a:t>
            </a:r>
            <a:endParaRPr>
              <a:solidFill>
                <a:schemeClr val="dk1"/>
              </a:solidFill>
            </a:endParaRPr>
          </a:p>
          <a:p>
            <a:pPr indent="0" lvl="0" marL="0" rtl="0" algn="l">
              <a:spcBef>
                <a:spcPts val="0"/>
              </a:spcBef>
              <a:spcAft>
                <a:spcPts val="0"/>
              </a:spcAft>
              <a:buNone/>
            </a:pPr>
            <a:r>
              <a:rPr lang="en">
                <a:solidFill>
                  <a:schemeClr val="dk1"/>
                </a:solidFill>
              </a:rPr>
              <a:t>• what interesting things did you discover that surprised you?</a:t>
            </a:r>
            <a:endParaRPr>
              <a:solidFill>
                <a:schemeClr val="dk1"/>
              </a:solidFill>
            </a:endParaRPr>
          </a:p>
          <a:p>
            <a:pPr indent="0" lvl="0" marL="0" rtl="0" algn="l">
              <a:spcBef>
                <a:spcPts val="0"/>
              </a:spcBef>
              <a:spcAft>
                <a:spcPts val="0"/>
              </a:spcAft>
              <a:buNone/>
            </a:pPr>
            <a:r>
              <a:rPr lang="en">
                <a:solidFill>
                  <a:schemeClr val="dk1"/>
                </a:solidFill>
              </a:rPr>
              <a:t>• how would you address any problems you encountered?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8b658fd2c6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8b658fd2c6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975508ede2_34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975508ede2_34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1" name="Google Shape;11;p2"/>
          <p:cNvSpPr txBox="1"/>
          <p:nvPr>
            <p:ph type="ctrTitle"/>
          </p:nvPr>
        </p:nvSpPr>
        <p:spPr>
          <a:xfrm>
            <a:off x="713250" y="928200"/>
            <a:ext cx="7717500" cy="2027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b="0" sz="5000">
                <a:latin typeface="Bebas Neue"/>
                <a:ea typeface="Bebas Neue"/>
                <a:cs typeface="Bebas Neue"/>
                <a:sym typeface="Bebas Ne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 name="Google Shape;12;p2"/>
          <p:cNvSpPr txBox="1"/>
          <p:nvPr>
            <p:ph idx="1" type="subTitle"/>
          </p:nvPr>
        </p:nvSpPr>
        <p:spPr>
          <a:xfrm>
            <a:off x="5389400" y="3946400"/>
            <a:ext cx="3041400" cy="657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 name="Google Shape;1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pic>
        <p:nvPicPr>
          <p:cNvPr id="15" name="Google Shape;15;p3" title="techstartup-osc.jpg"/>
          <p:cNvPicPr preferRelativeResize="0"/>
          <p:nvPr/>
        </p:nvPicPr>
        <p:blipFill rotWithShape="1">
          <a:blip r:embed="rId2">
            <a:alphaModFix/>
          </a:blip>
          <a:srcRect b="0" l="0" r="31125" t="31125"/>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6" name="Google Shape;16;p3"/>
          <p:cNvSpPr txBox="1"/>
          <p:nvPr>
            <p:ph type="title"/>
          </p:nvPr>
        </p:nvSpPr>
        <p:spPr>
          <a:xfrm>
            <a:off x="713225" y="3585200"/>
            <a:ext cx="7717800" cy="10188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b="0" sz="5000">
                <a:latin typeface="Syne SemiBold"/>
                <a:ea typeface="Syne SemiBold"/>
                <a:cs typeface="Syne SemiBold"/>
                <a:sym typeface="Syne Semi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hasCustomPrompt="1" idx="2" type="title"/>
          </p:nvPr>
        </p:nvSpPr>
        <p:spPr>
          <a:xfrm>
            <a:off x="713225" y="499725"/>
            <a:ext cx="1267500" cy="6846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b="0" sz="4000">
                <a:latin typeface="Syne SemiBold"/>
                <a:ea typeface="Syne SemiBold"/>
                <a:cs typeface="Syne SemiBold"/>
                <a:sym typeface="Syne SemiBol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8" name="Google Shape;18;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pic>
        <p:nvPicPr>
          <p:cNvPr id="20" name="Google Shape;20;p4" title="techstartup-osc1.jpg"/>
          <p:cNvPicPr preferRelativeResize="0"/>
          <p:nvPr/>
        </p:nvPicPr>
        <p:blipFill>
          <a:blip r:embed="rId2">
            <a:alphaModFix/>
          </a:blip>
          <a:stretch>
            <a:fillRect/>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1" name="Google Shape;2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2" name="Google Shape;22;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3" name="Google Shape;23;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pic>
        <p:nvPicPr>
          <p:cNvPr id="25" name="Google Shape;25;p5"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6" name="Google Shape;26;p5"/>
          <p:cNvSpPr txBox="1"/>
          <p:nvPr>
            <p:ph type="title"/>
          </p:nvPr>
        </p:nvSpPr>
        <p:spPr>
          <a:xfrm>
            <a:off x="720000" y="3644300"/>
            <a:ext cx="2955300" cy="959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7" name="Google Shape;27;p5"/>
          <p:cNvSpPr txBox="1"/>
          <p:nvPr>
            <p:ph idx="1" type="subTitle"/>
          </p:nvPr>
        </p:nvSpPr>
        <p:spPr>
          <a:xfrm>
            <a:off x="4592700" y="3268312"/>
            <a:ext cx="3838200" cy="12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 name="Google Shape;28;p5"/>
          <p:cNvSpPr txBox="1"/>
          <p:nvPr>
            <p:ph idx="2" type="subTitle"/>
          </p:nvPr>
        </p:nvSpPr>
        <p:spPr>
          <a:xfrm>
            <a:off x="4589325" y="1219088"/>
            <a:ext cx="3838200" cy="12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idx="3" type="subTitle"/>
          </p:nvPr>
        </p:nvSpPr>
        <p:spPr>
          <a:xfrm>
            <a:off x="4589325" y="646388"/>
            <a:ext cx="3838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0" name="Google Shape;30;p5"/>
          <p:cNvSpPr txBox="1"/>
          <p:nvPr>
            <p:ph idx="4" type="subTitle"/>
          </p:nvPr>
        </p:nvSpPr>
        <p:spPr>
          <a:xfrm>
            <a:off x="4592700" y="2695612"/>
            <a:ext cx="3838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 name="Google Shape;31;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pic>
        <p:nvPicPr>
          <p:cNvPr id="33" name="Google Shape;33;p6" title="techstartup-osc1.jpg"/>
          <p:cNvPicPr preferRelativeResize="0"/>
          <p:nvPr/>
        </p:nvPicPr>
        <p:blipFill>
          <a:blip r:embed="rId2">
            <a:alphaModFix/>
          </a:blip>
          <a:stretch>
            <a:fillRect/>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34" name="Google Shape;3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5" name="Google Shape;35;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pic>
        <p:nvPicPr>
          <p:cNvPr id="37" name="Google Shape;37;p7"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38" name="Google Shape;38;p7"/>
          <p:cNvSpPr txBox="1"/>
          <p:nvPr>
            <p:ph idx="1" type="subTitle"/>
          </p:nvPr>
        </p:nvSpPr>
        <p:spPr>
          <a:xfrm>
            <a:off x="4928800" y="1475100"/>
            <a:ext cx="3501900" cy="21933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9" name="Google Shape;39;p7"/>
          <p:cNvSpPr txBox="1"/>
          <p:nvPr>
            <p:ph type="title"/>
          </p:nvPr>
        </p:nvSpPr>
        <p:spPr>
          <a:xfrm>
            <a:off x="811975" y="539488"/>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0" name="Google Shape;40;p7"/>
          <p:cNvSpPr/>
          <p:nvPr>
            <p:ph idx="2" type="pic"/>
          </p:nvPr>
        </p:nvSpPr>
        <p:spPr>
          <a:xfrm>
            <a:off x="1" y="1476775"/>
            <a:ext cx="4294800" cy="3666600"/>
          </a:xfrm>
          <a:prstGeom prst="rect">
            <a:avLst/>
          </a:prstGeom>
          <a:noFill/>
          <a:ln>
            <a:noFill/>
          </a:ln>
        </p:spPr>
      </p:sp>
      <p:sp>
        <p:nvSpPr>
          <p:cNvPr id="41" name="Google Shape;41;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pic>
        <p:nvPicPr>
          <p:cNvPr id="43" name="Google Shape;43;p8" title="techstartup-osc.jpg"/>
          <p:cNvPicPr preferRelativeResize="0"/>
          <p:nvPr/>
        </p:nvPicPr>
        <p:blipFill rotWithShape="1">
          <a:blip r:embed="rId2">
            <a:alphaModFix/>
          </a:blip>
          <a:srcRect b="0" l="0" r="31125" t="31125"/>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44" name="Google Shape;44;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5" name="Google Shape;4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pic>
        <p:nvPicPr>
          <p:cNvPr id="47" name="Google Shape;47;p9"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48" name="Google Shape;48;p9"/>
          <p:cNvSpPr txBox="1"/>
          <p:nvPr>
            <p:ph type="title"/>
          </p:nvPr>
        </p:nvSpPr>
        <p:spPr>
          <a:xfrm>
            <a:off x="2135550" y="1189100"/>
            <a:ext cx="4872900" cy="196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49" name="Google Shape;49;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0" name="Google Shape;50;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p:nvPr>
            <p:ph idx="2" type="pic"/>
          </p:nvPr>
        </p:nvSpPr>
        <p:spPr>
          <a:xfrm>
            <a:off x="0" y="0"/>
            <a:ext cx="9144000" cy="5143500"/>
          </a:xfrm>
          <a:prstGeom prst="rect">
            <a:avLst/>
          </a:prstGeom>
          <a:noFill/>
          <a:ln>
            <a:noFill/>
          </a:ln>
        </p:spPr>
      </p:sp>
      <p:sp>
        <p:nvSpPr>
          <p:cNvPr id="53" name="Google Shape;53;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2600"/>
              <a:buNone/>
              <a:defRPr>
                <a:solidFill>
                  <a:schemeClr val="lt1"/>
                </a:solidFill>
              </a:defRPr>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54" name="Google Shape;54;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pic>
        <p:nvPicPr>
          <p:cNvPr id="56" name="Google Shape;56;p11"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57" name="Google Shape;57;p11"/>
          <p:cNvSpPr txBox="1"/>
          <p:nvPr>
            <p:ph hasCustomPrompt="1" type="title"/>
          </p:nvPr>
        </p:nvSpPr>
        <p:spPr>
          <a:xfrm>
            <a:off x="713225" y="539500"/>
            <a:ext cx="6576000" cy="929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b="0" sz="6000">
                <a:latin typeface="Syne SemiBold"/>
                <a:ea typeface="Syne SemiBold"/>
                <a:cs typeface="Syne SemiBold"/>
                <a:sym typeface="Syne Semi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8" name="Google Shape;58;p11"/>
          <p:cNvSpPr txBox="1"/>
          <p:nvPr>
            <p:ph idx="1" type="subTitle"/>
          </p:nvPr>
        </p:nvSpPr>
        <p:spPr>
          <a:xfrm>
            <a:off x="5607575" y="3961100"/>
            <a:ext cx="2823300" cy="642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9" name="Google Shape;59;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0" name="Shape 60"/>
        <p:cNvGrpSpPr/>
        <p:nvPr/>
      </p:nvGrpSpPr>
      <p:grpSpPr>
        <a:xfrm>
          <a:off x="0" y="0"/>
          <a:ext cx="0" cy="0"/>
          <a:chOff x="0" y="0"/>
          <a:chExt cx="0" cy="0"/>
        </a:xfrm>
      </p:grpSpPr>
      <p:sp>
        <p:nvSpPr>
          <p:cNvPr id="61" name="Google Shape;61;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2" name="Shape 62"/>
        <p:cNvGrpSpPr/>
        <p:nvPr/>
      </p:nvGrpSpPr>
      <p:grpSpPr>
        <a:xfrm>
          <a:off x="0" y="0"/>
          <a:ext cx="0" cy="0"/>
          <a:chOff x="0" y="0"/>
          <a:chExt cx="0" cy="0"/>
        </a:xfrm>
      </p:grpSpPr>
      <p:pic>
        <p:nvPicPr>
          <p:cNvPr id="63" name="Google Shape;63;p13" title="techstartup-osc2.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64" name="Google Shape;64;p13"/>
          <p:cNvSpPr txBox="1"/>
          <p:nvPr>
            <p:ph type="title"/>
          </p:nvPr>
        </p:nvSpPr>
        <p:spPr>
          <a:xfrm>
            <a:off x="713225" y="539500"/>
            <a:ext cx="3686400" cy="6201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300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65" name="Google Shape;65;p13"/>
          <p:cNvSpPr txBox="1"/>
          <p:nvPr>
            <p:ph hasCustomPrompt="1" idx="2" type="title"/>
          </p:nvPr>
        </p:nvSpPr>
        <p:spPr>
          <a:xfrm>
            <a:off x="4494552" y="19510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66" name="Google Shape;66;p13"/>
          <p:cNvSpPr txBox="1"/>
          <p:nvPr>
            <p:ph hasCustomPrompt="1" idx="3" type="title"/>
          </p:nvPr>
        </p:nvSpPr>
        <p:spPr>
          <a:xfrm>
            <a:off x="4494552" y="33062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67" name="Google Shape;67;p13"/>
          <p:cNvSpPr txBox="1"/>
          <p:nvPr>
            <p:ph hasCustomPrompt="1" idx="4" type="title"/>
          </p:nvPr>
        </p:nvSpPr>
        <p:spPr>
          <a:xfrm>
            <a:off x="4494552" y="26286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68" name="Google Shape;68;p13"/>
          <p:cNvSpPr txBox="1"/>
          <p:nvPr>
            <p:ph hasCustomPrompt="1" idx="5" type="title"/>
          </p:nvPr>
        </p:nvSpPr>
        <p:spPr>
          <a:xfrm>
            <a:off x="4494552" y="39838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69" name="Google Shape;69;p13"/>
          <p:cNvSpPr txBox="1"/>
          <p:nvPr>
            <p:ph idx="1" type="subTitle"/>
          </p:nvPr>
        </p:nvSpPr>
        <p:spPr>
          <a:xfrm>
            <a:off x="5559775" y="19510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70" name="Google Shape;70;p13"/>
          <p:cNvSpPr txBox="1"/>
          <p:nvPr>
            <p:ph idx="6" type="subTitle"/>
          </p:nvPr>
        </p:nvSpPr>
        <p:spPr>
          <a:xfrm>
            <a:off x="5559775" y="26286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71" name="Google Shape;71;p13"/>
          <p:cNvSpPr txBox="1"/>
          <p:nvPr>
            <p:ph idx="7" type="subTitle"/>
          </p:nvPr>
        </p:nvSpPr>
        <p:spPr>
          <a:xfrm>
            <a:off x="5559775" y="33062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72" name="Google Shape;72;p13"/>
          <p:cNvSpPr txBox="1"/>
          <p:nvPr>
            <p:ph idx="8" type="subTitle"/>
          </p:nvPr>
        </p:nvSpPr>
        <p:spPr>
          <a:xfrm>
            <a:off x="5559775" y="39838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73" name="Google Shape;73;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0">
    <p:spTree>
      <p:nvGrpSpPr>
        <p:cNvPr id="74" name="Shape 74"/>
        <p:cNvGrpSpPr/>
        <p:nvPr/>
      </p:nvGrpSpPr>
      <p:grpSpPr>
        <a:xfrm>
          <a:off x="0" y="0"/>
          <a:ext cx="0" cy="0"/>
          <a:chOff x="0" y="0"/>
          <a:chExt cx="0" cy="0"/>
        </a:xfrm>
      </p:grpSpPr>
      <p:pic>
        <p:nvPicPr>
          <p:cNvPr id="75" name="Google Shape;75;p14"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76" name="Google Shape;76;p14"/>
          <p:cNvSpPr txBox="1"/>
          <p:nvPr>
            <p:ph idx="1" type="subTitle"/>
          </p:nvPr>
        </p:nvSpPr>
        <p:spPr>
          <a:xfrm>
            <a:off x="4928800" y="1475100"/>
            <a:ext cx="3501900" cy="21933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7" name="Google Shape;77;p14"/>
          <p:cNvSpPr txBox="1"/>
          <p:nvPr>
            <p:ph type="title"/>
          </p:nvPr>
        </p:nvSpPr>
        <p:spPr>
          <a:xfrm>
            <a:off x="811975" y="539500"/>
            <a:ext cx="7618800" cy="572700"/>
          </a:xfrm>
          <a:prstGeom prst="rect">
            <a:avLst/>
          </a:prstGeom>
        </p:spPr>
        <p:txBody>
          <a:bodyPr anchorCtr="0" anchor="b" bIns="91425" lIns="91425" spcFirstLastPara="1" rIns="91425" wrap="square" tIns="91425">
            <a:noAutofit/>
          </a:bodyPr>
          <a:lstStyle>
            <a:lvl1pPr lvl="0">
              <a:spcBef>
                <a:spcPts val="0"/>
              </a:spcBef>
              <a:spcAft>
                <a:spcPts val="0"/>
              </a:spcAft>
              <a:buSzPts val="2600"/>
              <a:buNone/>
              <a:defRPr b="0">
                <a:latin typeface="Syne SemiBold"/>
                <a:ea typeface="Syne SemiBold"/>
                <a:cs typeface="Syne SemiBold"/>
                <a:sym typeface="Syne SemiBold"/>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78" name="Google Shape;78;p14"/>
          <p:cNvSpPr/>
          <p:nvPr>
            <p:ph idx="2" type="pic"/>
          </p:nvPr>
        </p:nvSpPr>
        <p:spPr>
          <a:xfrm>
            <a:off x="1" y="1476775"/>
            <a:ext cx="4294800" cy="3666600"/>
          </a:xfrm>
          <a:prstGeom prst="rect">
            <a:avLst/>
          </a:prstGeom>
          <a:noFill/>
          <a:ln>
            <a:noFill/>
          </a:ln>
        </p:spPr>
      </p:sp>
      <p:sp>
        <p:nvSpPr>
          <p:cNvPr id="79" name="Google Shape;79;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80" name="Shape 80"/>
        <p:cNvGrpSpPr/>
        <p:nvPr/>
      </p:nvGrpSpPr>
      <p:grpSpPr>
        <a:xfrm>
          <a:off x="0" y="0"/>
          <a:ext cx="0" cy="0"/>
          <a:chOff x="0" y="0"/>
          <a:chExt cx="0" cy="0"/>
        </a:xfrm>
      </p:grpSpPr>
      <p:pic>
        <p:nvPicPr>
          <p:cNvPr id="81" name="Google Shape;81;p15"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82" name="Google Shape;82;p15"/>
          <p:cNvSpPr txBox="1"/>
          <p:nvPr>
            <p:ph type="title"/>
          </p:nvPr>
        </p:nvSpPr>
        <p:spPr>
          <a:xfrm>
            <a:off x="762679" y="794675"/>
            <a:ext cx="7618500" cy="6984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2600"/>
              <a:buNone/>
              <a:defRPr b="0" sz="4000">
                <a:latin typeface="Syne SemiBold"/>
                <a:ea typeface="Syne SemiBold"/>
                <a:cs typeface="Syne SemiBold"/>
                <a:sym typeface="Syne SemiBold"/>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83" name="Google Shape;83;p15"/>
          <p:cNvSpPr txBox="1"/>
          <p:nvPr>
            <p:ph idx="1" type="body"/>
          </p:nvPr>
        </p:nvSpPr>
        <p:spPr>
          <a:xfrm>
            <a:off x="3185049" y="2398525"/>
            <a:ext cx="5196300" cy="1950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04800" lvl="1" marL="914400">
              <a:lnSpc>
                <a:spcPct val="115000"/>
              </a:lnSpc>
              <a:spcBef>
                <a:spcPts val="0"/>
              </a:spcBef>
              <a:spcAft>
                <a:spcPts val="0"/>
              </a:spcAft>
              <a:buSzPts val="1200"/>
              <a:buChar char="○"/>
              <a:defRPr/>
            </a:lvl2pPr>
            <a:lvl3pPr indent="-304800" lvl="2" marL="1371600">
              <a:lnSpc>
                <a:spcPct val="115000"/>
              </a:lnSpc>
              <a:spcBef>
                <a:spcPts val="0"/>
              </a:spcBef>
              <a:spcAft>
                <a:spcPts val="0"/>
              </a:spcAft>
              <a:buSzPts val="1200"/>
              <a:buChar char="■"/>
              <a:defRPr/>
            </a:lvl3pPr>
            <a:lvl4pPr indent="-304800" lvl="3" marL="1828800">
              <a:lnSpc>
                <a:spcPct val="115000"/>
              </a:lnSpc>
              <a:spcBef>
                <a:spcPts val="0"/>
              </a:spcBef>
              <a:spcAft>
                <a:spcPts val="0"/>
              </a:spcAft>
              <a:buSzPts val="1200"/>
              <a:buChar char="●"/>
              <a:defRPr/>
            </a:lvl4pPr>
            <a:lvl5pPr indent="-304800" lvl="4" marL="2286000">
              <a:lnSpc>
                <a:spcPct val="115000"/>
              </a:lnSpc>
              <a:spcBef>
                <a:spcPts val="0"/>
              </a:spcBef>
              <a:spcAft>
                <a:spcPts val="0"/>
              </a:spcAft>
              <a:buSzPts val="1200"/>
              <a:buChar char="○"/>
              <a:defRPr/>
            </a:lvl5pPr>
            <a:lvl6pPr indent="-304800" lvl="5" marL="2743200">
              <a:lnSpc>
                <a:spcPct val="115000"/>
              </a:lnSpc>
              <a:spcBef>
                <a:spcPts val="0"/>
              </a:spcBef>
              <a:spcAft>
                <a:spcPts val="0"/>
              </a:spcAft>
              <a:buSzPts val="1200"/>
              <a:buChar char="■"/>
              <a:defRPr/>
            </a:lvl6pPr>
            <a:lvl7pPr indent="-304800" lvl="6" marL="3200400">
              <a:lnSpc>
                <a:spcPct val="115000"/>
              </a:lnSpc>
              <a:spcBef>
                <a:spcPts val="0"/>
              </a:spcBef>
              <a:spcAft>
                <a:spcPts val="0"/>
              </a:spcAft>
              <a:buSzPts val="1200"/>
              <a:buChar char="●"/>
              <a:defRPr/>
            </a:lvl7pPr>
            <a:lvl8pPr indent="-304800" lvl="7" marL="3657600">
              <a:lnSpc>
                <a:spcPct val="115000"/>
              </a:lnSpc>
              <a:spcBef>
                <a:spcPts val="0"/>
              </a:spcBef>
              <a:spcAft>
                <a:spcPts val="0"/>
              </a:spcAft>
              <a:buSzPts val="1200"/>
              <a:buChar char="○"/>
              <a:defRPr/>
            </a:lvl8pPr>
            <a:lvl9pPr indent="-304800" lvl="8" marL="4114800">
              <a:lnSpc>
                <a:spcPct val="115000"/>
              </a:lnSpc>
              <a:spcBef>
                <a:spcPts val="0"/>
              </a:spcBef>
              <a:spcAft>
                <a:spcPts val="0"/>
              </a:spcAft>
              <a:buSzPts val="1200"/>
              <a:buChar char="■"/>
              <a:defRPr/>
            </a:lvl9pPr>
          </a:lstStyle>
          <a:p/>
        </p:txBody>
      </p:sp>
      <p:sp>
        <p:nvSpPr>
          <p:cNvPr id="84" name="Google Shape;84;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5" name="Shape 85"/>
        <p:cNvGrpSpPr/>
        <p:nvPr/>
      </p:nvGrpSpPr>
      <p:grpSpPr>
        <a:xfrm>
          <a:off x="0" y="0"/>
          <a:ext cx="0" cy="0"/>
          <a:chOff x="0" y="0"/>
          <a:chExt cx="0" cy="0"/>
        </a:xfrm>
      </p:grpSpPr>
      <p:pic>
        <p:nvPicPr>
          <p:cNvPr id="86" name="Google Shape;86;p16"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87" name="Google Shape;87;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88" name="Google Shape;88;p16"/>
          <p:cNvSpPr txBox="1"/>
          <p:nvPr>
            <p:ph idx="1" type="subTitle"/>
          </p:nvPr>
        </p:nvSpPr>
        <p:spPr>
          <a:xfrm>
            <a:off x="719750" y="3509900"/>
            <a:ext cx="3286800" cy="109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9" name="Google Shape;89;p16"/>
          <p:cNvSpPr txBox="1"/>
          <p:nvPr>
            <p:ph idx="2" type="subTitle"/>
          </p:nvPr>
        </p:nvSpPr>
        <p:spPr>
          <a:xfrm>
            <a:off x="5137201" y="3499275"/>
            <a:ext cx="3286800" cy="99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 name="Google Shape;90;p16"/>
          <p:cNvSpPr txBox="1"/>
          <p:nvPr>
            <p:ph idx="3" type="subTitle"/>
          </p:nvPr>
        </p:nvSpPr>
        <p:spPr>
          <a:xfrm>
            <a:off x="5137201" y="1451925"/>
            <a:ext cx="3286800" cy="99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 name="Google Shape;91;p16"/>
          <p:cNvSpPr txBox="1"/>
          <p:nvPr>
            <p:ph idx="4" type="subTitle"/>
          </p:nvPr>
        </p:nvSpPr>
        <p:spPr>
          <a:xfrm>
            <a:off x="719750" y="2708600"/>
            <a:ext cx="32868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 name="Google Shape;92;p16"/>
          <p:cNvSpPr txBox="1"/>
          <p:nvPr>
            <p:ph idx="5" type="subTitle"/>
          </p:nvPr>
        </p:nvSpPr>
        <p:spPr>
          <a:xfrm>
            <a:off x="5137201" y="2697975"/>
            <a:ext cx="32868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 name="Google Shape;93;p16"/>
          <p:cNvSpPr txBox="1"/>
          <p:nvPr>
            <p:ph idx="6" type="subTitle"/>
          </p:nvPr>
        </p:nvSpPr>
        <p:spPr>
          <a:xfrm>
            <a:off x="5137204" y="650625"/>
            <a:ext cx="32868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4" name="Google Shape;94;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95" name="Shape 95"/>
        <p:cNvGrpSpPr/>
        <p:nvPr/>
      </p:nvGrpSpPr>
      <p:grpSpPr>
        <a:xfrm>
          <a:off x="0" y="0"/>
          <a:ext cx="0" cy="0"/>
          <a:chOff x="0" y="0"/>
          <a:chExt cx="0" cy="0"/>
        </a:xfrm>
      </p:grpSpPr>
      <p:pic>
        <p:nvPicPr>
          <p:cNvPr id="96" name="Google Shape;96;p17" title="techstartup-osc6.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97" name="Google Shape;97;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98" name="Google Shape;98;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_1">
    <p:spTree>
      <p:nvGrpSpPr>
        <p:cNvPr id="99" name="Shape 99"/>
        <p:cNvGrpSpPr/>
        <p:nvPr/>
      </p:nvGrpSpPr>
      <p:grpSpPr>
        <a:xfrm>
          <a:off x="0" y="0"/>
          <a:ext cx="0" cy="0"/>
          <a:chOff x="0" y="0"/>
          <a:chExt cx="0" cy="0"/>
        </a:xfrm>
      </p:grpSpPr>
      <p:pic>
        <p:nvPicPr>
          <p:cNvPr id="100" name="Google Shape;100;p18"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01" name="Google Shape;10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02" name="Google Shape;102;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_1">
    <p:spTree>
      <p:nvGrpSpPr>
        <p:cNvPr id="103" name="Shape 103"/>
        <p:cNvGrpSpPr/>
        <p:nvPr/>
      </p:nvGrpSpPr>
      <p:grpSpPr>
        <a:xfrm>
          <a:off x="0" y="0"/>
          <a:ext cx="0" cy="0"/>
          <a:chOff x="0" y="0"/>
          <a:chExt cx="0" cy="0"/>
        </a:xfrm>
      </p:grpSpPr>
      <p:pic>
        <p:nvPicPr>
          <p:cNvPr id="104" name="Google Shape;104;p19"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05" name="Google Shape;10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06" name="Google Shape;106;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7" name="Shape 107"/>
        <p:cNvGrpSpPr/>
        <p:nvPr/>
      </p:nvGrpSpPr>
      <p:grpSpPr>
        <a:xfrm>
          <a:off x="0" y="0"/>
          <a:ext cx="0" cy="0"/>
          <a:chOff x="0" y="0"/>
          <a:chExt cx="0" cy="0"/>
        </a:xfrm>
      </p:grpSpPr>
      <p:pic>
        <p:nvPicPr>
          <p:cNvPr id="108" name="Google Shape;108;p20"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09" name="Google Shape;109;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10" name="Google Shape;110;p20"/>
          <p:cNvSpPr txBox="1"/>
          <p:nvPr>
            <p:ph idx="1" type="subTitle"/>
          </p:nvPr>
        </p:nvSpPr>
        <p:spPr>
          <a:xfrm>
            <a:off x="715400" y="1710171"/>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1" name="Google Shape;111;p20"/>
          <p:cNvSpPr txBox="1"/>
          <p:nvPr>
            <p:ph idx="2" type="subTitle"/>
          </p:nvPr>
        </p:nvSpPr>
        <p:spPr>
          <a:xfrm>
            <a:off x="3376873" y="1710149"/>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2" name="Google Shape;112;p20"/>
          <p:cNvSpPr txBox="1"/>
          <p:nvPr>
            <p:ph idx="3" type="subTitle"/>
          </p:nvPr>
        </p:nvSpPr>
        <p:spPr>
          <a:xfrm>
            <a:off x="715400" y="3498801"/>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 name="Google Shape;113;p20"/>
          <p:cNvSpPr txBox="1"/>
          <p:nvPr>
            <p:ph idx="4" type="subTitle"/>
          </p:nvPr>
        </p:nvSpPr>
        <p:spPr>
          <a:xfrm>
            <a:off x="3376873" y="3498797"/>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4" name="Google Shape;114;p20"/>
          <p:cNvSpPr txBox="1"/>
          <p:nvPr>
            <p:ph idx="5" type="subTitle"/>
          </p:nvPr>
        </p:nvSpPr>
        <p:spPr>
          <a:xfrm>
            <a:off x="6033621" y="1710149"/>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5" name="Google Shape;115;p20"/>
          <p:cNvSpPr txBox="1"/>
          <p:nvPr>
            <p:ph idx="6" type="subTitle"/>
          </p:nvPr>
        </p:nvSpPr>
        <p:spPr>
          <a:xfrm>
            <a:off x="6033621" y="3498797"/>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20"/>
          <p:cNvSpPr txBox="1"/>
          <p:nvPr>
            <p:ph idx="7" type="subTitle"/>
          </p:nvPr>
        </p:nvSpPr>
        <p:spPr>
          <a:xfrm>
            <a:off x="720114" y="1017725"/>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7" name="Google Shape;117;p20"/>
          <p:cNvSpPr txBox="1"/>
          <p:nvPr>
            <p:ph idx="8" type="subTitle"/>
          </p:nvPr>
        </p:nvSpPr>
        <p:spPr>
          <a:xfrm>
            <a:off x="3381406" y="1017725"/>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 name="Google Shape;118;p20"/>
          <p:cNvSpPr txBox="1"/>
          <p:nvPr>
            <p:ph idx="9" type="subTitle"/>
          </p:nvPr>
        </p:nvSpPr>
        <p:spPr>
          <a:xfrm>
            <a:off x="6037972" y="1017725"/>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 name="Google Shape;119;p20"/>
          <p:cNvSpPr txBox="1"/>
          <p:nvPr>
            <p:ph idx="13" type="subTitle"/>
          </p:nvPr>
        </p:nvSpPr>
        <p:spPr>
          <a:xfrm>
            <a:off x="720114" y="2803098"/>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0" name="Google Shape;120;p20"/>
          <p:cNvSpPr txBox="1"/>
          <p:nvPr>
            <p:ph idx="14" type="subTitle"/>
          </p:nvPr>
        </p:nvSpPr>
        <p:spPr>
          <a:xfrm>
            <a:off x="3381406" y="2803098"/>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1" name="Google Shape;121;p20"/>
          <p:cNvSpPr txBox="1"/>
          <p:nvPr>
            <p:ph idx="15" type="subTitle"/>
          </p:nvPr>
        </p:nvSpPr>
        <p:spPr>
          <a:xfrm>
            <a:off x="6037972" y="2803098"/>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2" name="Google Shape;122;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3" name="Shape 123"/>
        <p:cNvGrpSpPr/>
        <p:nvPr/>
      </p:nvGrpSpPr>
      <p:grpSpPr>
        <a:xfrm>
          <a:off x="0" y="0"/>
          <a:ext cx="0" cy="0"/>
          <a:chOff x="0" y="0"/>
          <a:chExt cx="0" cy="0"/>
        </a:xfrm>
      </p:grpSpPr>
      <p:pic>
        <p:nvPicPr>
          <p:cNvPr id="124" name="Google Shape;124;p21"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25" name="Google Shape;125;p21"/>
          <p:cNvSpPr txBox="1"/>
          <p:nvPr>
            <p:ph type="title"/>
          </p:nvPr>
        </p:nvSpPr>
        <p:spPr>
          <a:xfrm>
            <a:off x="713257" y="539500"/>
            <a:ext cx="2836800" cy="7860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b="0" sz="500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26" name="Google Shape;126;p21"/>
          <p:cNvSpPr txBox="1"/>
          <p:nvPr>
            <p:ph idx="1" type="subTitle"/>
          </p:nvPr>
        </p:nvSpPr>
        <p:spPr>
          <a:xfrm>
            <a:off x="713225" y="1325575"/>
            <a:ext cx="28368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7" name="Google Shape;127;p21"/>
          <p:cNvSpPr txBox="1"/>
          <p:nvPr/>
        </p:nvSpPr>
        <p:spPr>
          <a:xfrm>
            <a:off x="5004275" y="3649552"/>
            <a:ext cx="3426300" cy="6234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3"/>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5">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sp>
        <p:nvSpPr>
          <p:cNvPr id="128" name="Google Shape;128;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9" name="Shape 129"/>
        <p:cNvGrpSpPr/>
        <p:nvPr/>
      </p:nvGrpSpPr>
      <p:grpSpPr>
        <a:xfrm>
          <a:off x="0" y="0"/>
          <a:ext cx="0" cy="0"/>
          <a:chOff x="0" y="0"/>
          <a:chExt cx="0" cy="0"/>
        </a:xfrm>
      </p:grpSpPr>
      <p:pic>
        <p:nvPicPr>
          <p:cNvPr id="130" name="Google Shape;130;p22"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31" name="Google Shape;131;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2" name="Shape 132"/>
        <p:cNvGrpSpPr/>
        <p:nvPr/>
      </p:nvGrpSpPr>
      <p:grpSpPr>
        <a:xfrm>
          <a:off x="0" y="0"/>
          <a:ext cx="0" cy="0"/>
          <a:chOff x="0" y="0"/>
          <a:chExt cx="0" cy="0"/>
        </a:xfrm>
      </p:grpSpPr>
      <p:pic>
        <p:nvPicPr>
          <p:cNvPr id="133" name="Google Shape;133;p23" title="techstartup-osc1.jpg"/>
          <p:cNvPicPr preferRelativeResize="0"/>
          <p:nvPr/>
        </p:nvPicPr>
        <p:blipFill>
          <a:blip r:embed="rId2">
            <a:alphaModFix/>
          </a:blip>
          <a:stretch>
            <a:fillRect/>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34" name="Google Shape;13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9" name="Shape 139"/>
        <p:cNvGrpSpPr/>
        <p:nvPr/>
      </p:nvGrpSpPr>
      <p:grpSpPr>
        <a:xfrm>
          <a:off x="0" y="0"/>
          <a:ext cx="0" cy="0"/>
          <a:chOff x="0" y="0"/>
          <a:chExt cx="0" cy="0"/>
        </a:xfrm>
      </p:grpSpPr>
      <p:pic>
        <p:nvPicPr>
          <p:cNvPr id="140" name="Google Shape;140;p25"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41" name="Google Shape;141;p25"/>
          <p:cNvSpPr txBox="1"/>
          <p:nvPr>
            <p:ph type="ctrTitle"/>
          </p:nvPr>
        </p:nvSpPr>
        <p:spPr>
          <a:xfrm>
            <a:off x="713250" y="928200"/>
            <a:ext cx="7717500" cy="2027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b="0" sz="5000">
                <a:latin typeface="Bebas Neue"/>
                <a:ea typeface="Bebas Neue"/>
                <a:cs typeface="Bebas Neue"/>
                <a:sym typeface="Bebas Ne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2" name="Google Shape;142;p25"/>
          <p:cNvSpPr txBox="1"/>
          <p:nvPr>
            <p:ph idx="1" type="subTitle"/>
          </p:nvPr>
        </p:nvSpPr>
        <p:spPr>
          <a:xfrm>
            <a:off x="5389400" y="3946400"/>
            <a:ext cx="3041400" cy="657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43" name="Google Shape;143;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4" name="Shape 144"/>
        <p:cNvGrpSpPr/>
        <p:nvPr/>
      </p:nvGrpSpPr>
      <p:grpSpPr>
        <a:xfrm>
          <a:off x="0" y="0"/>
          <a:ext cx="0" cy="0"/>
          <a:chOff x="0" y="0"/>
          <a:chExt cx="0" cy="0"/>
        </a:xfrm>
      </p:grpSpPr>
      <p:pic>
        <p:nvPicPr>
          <p:cNvPr id="145" name="Google Shape;145;p26" title="techstartup-osc.jpg"/>
          <p:cNvPicPr preferRelativeResize="0"/>
          <p:nvPr/>
        </p:nvPicPr>
        <p:blipFill rotWithShape="1">
          <a:blip r:embed="rId2">
            <a:alphaModFix/>
          </a:blip>
          <a:srcRect b="0" l="0" r="31125" t="31125"/>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46" name="Google Shape;146;p26"/>
          <p:cNvSpPr txBox="1"/>
          <p:nvPr>
            <p:ph type="title"/>
          </p:nvPr>
        </p:nvSpPr>
        <p:spPr>
          <a:xfrm>
            <a:off x="713225" y="3585200"/>
            <a:ext cx="7717800" cy="10188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b="0" sz="5000">
                <a:latin typeface="Syne SemiBold"/>
                <a:ea typeface="Syne SemiBold"/>
                <a:cs typeface="Syne SemiBold"/>
                <a:sym typeface="Syne Semi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7" name="Google Shape;147;p26"/>
          <p:cNvSpPr txBox="1"/>
          <p:nvPr>
            <p:ph hasCustomPrompt="1" idx="2" type="title"/>
          </p:nvPr>
        </p:nvSpPr>
        <p:spPr>
          <a:xfrm>
            <a:off x="713225" y="499725"/>
            <a:ext cx="1267500" cy="6846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b="0" sz="4000">
                <a:latin typeface="Syne SemiBold"/>
                <a:ea typeface="Syne SemiBold"/>
                <a:cs typeface="Syne SemiBold"/>
                <a:sym typeface="Syne SemiBol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8" name="Google Shape;148;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9" name="Shape 149"/>
        <p:cNvGrpSpPr/>
        <p:nvPr/>
      </p:nvGrpSpPr>
      <p:grpSpPr>
        <a:xfrm>
          <a:off x="0" y="0"/>
          <a:ext cx="0" cy="0"/>
          <a:chOff x="0" y="0"/>
          <a:chExt cx="0" cy="0"/>
        </a:xfrm>
      </p:grpSpPr>
      <p:pic>
        <p:nvPicPr>
          <p:cNvPr id="150" name="Google Shape;150;p27" title="techstartup-osc1.jpg"/>
          <p:cNvPicPr preferRelativeResize="0"/>
          <p:nvPr/>
        </p:nvPicPr>
        <p:blipFill>
          <a:blip r:embed="rId2">
            <a:alphaModFix/>
          </a:blip>
          <a:stretch>
            <a:fillRect/>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51" name="Google Shape;151;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52" name="Google Shape;152;p27"/>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153" name="Google Shape;153;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4" name="Shape 154"/>
        <p:cNvGrpSpPr/>
        <p:nvPr/>
      </p:nvGrpSpPr>
      <p:grpSpPr>
        <a:xfrm>
          <a:off x="0" y="0"/>
          <a:ext cx="0" cy="0"/>
          <a:chOff x="0" y="0"/>
          <a:chExt cx="0" cy="0"/>
        </a:xfrm>
      </p:grpSpPr>
      <p:pic>
        <p:nvPicPr>
          <p:cNvPr id="155" name="Google Shape;155;p28"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56" name="Google Shape;156;p28"/>
          <p:cNvSpPr txBox="1"/>
          <p:nvPr>
            <p:ph type="title"/>
          </p:nvPr>
        </p:nvSpPr>
        <p:spPr>
          <a:xfrm>
            <a:off x="720000" y="3644300"/>
            <a:ext cx="2955300" cy="959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57" name="Google Shape;157;p28"/>
          <p:cNvSpPr txBox="1"/>
          <p:nvPr>
            <p:ph idx="1" type="subTitle"/>
          </p:nvPr>
        </p:nvSpPr>
        <p:spPr>
          <a:xfrm>
            <a:off x="4592700" y="3268312"/>
            <a:ext cx="3838200" cy="12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8" name="Google Shape;158;p28"/>
          <p:cNvSpPr txBox="1"/>
          <p:nvPr>
            <p:ph idx="2" type="subTitle"/>
          </p:nvPr>
        </p:nvSpPr>
        <p:spPr>
          <a:xfrm>
            <a:off x="4589325" y="1219088"/>
            <a:ext cx="3838200" cy="12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28"/>
          <p:cNvSpPr txBox="1"/>
          <p:nvPr>
            <p:ph idx="3" type="subTitle"/>
          </p:nvPr>
        </p:nvSpPr>
        <p:spPr>
          <a:xfrm>
            <a:off x="4589325" y="646388"/>
            <a:ext cx="3838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0" name="Google Shape;160;p28"/>
          <p:cNvSpPr txBox="1"/>
          <p:nvPr>
            <p:ph idx="4" type="subTitle"/>
          </p:nvPr>
        </p:nvSpPr>
        <p:spPr>
          <a:xfrm>
            <a:off x="4592700" y="2695612"/>
            <a:ext cx="3838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1" name="Google Shape;161;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2" name="Shape 162"/>
        <p:cNvGrpSpPr/>
        <p:nvPr/>
      </p:nvGrpSpPr>
      <p:grpSpPr>
        <a:xfrm>
          <a:off x="0" y="0"/>
          <a:ext cx="0" cy="0"/>
          <a:chOff x="0" y="0"/>
          <a:chExt cx="0" cy="0"/>
        </a:xfrm>
      </p:grpSpPr>
      <p:pic>
        <p:nvPicPr>
          <p:cNvPr id="163" name="Google Shape;163;p29" title="techstartup-osc1.jpg"/>
          <p:cNvPicPr preferRelativeResize="0"/>
          <p:nvPr/>
        </p:nvPicPr>
        <p:blipFill>
          <a:blip r:embed="rId2">
            <a:alphaModFix/>
          </a:blip>
          <a:stretch>
            <a:fillRect/>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64" name="Google Shape;164;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65" name="Google Shape;165;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pic>
        <p:nvPicPr>
          <p:cNvPr id="167" name="Google Shape;167;p30"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68" name="Google Shape;168;p30"/>
          <p:cNvSpPr txBox="1"/>
          <p:nvPr>
            <p:ph idx="1" type="subTitle"/>
          </p:nvPr>
        </p:nvSpPr>
        <p:spPr>
          <a:xfrm>
            <a:off x="4928800" y="1475100"/>
            <a:ext cx="3501900" cy="21933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9" name="Google Shape;169;p30"/>
          <p:cNvSpPr txBox="1"/>
          <p:nvPr>
            <p:ph type="title"/>
          </p:nvPr>
        </p:nvSpPr>
        <p:spPr>
          <a:xfrm>
            <a:off x="811975" y="539488"/>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70" name="Google Shape;170;p30"/>
          <p:cNvSpPr/>
          <p:nvPr>
            <p:ph idx="2" type="pic"/>
          </p:nvPr>
        </p:nvSpPr>
        <p:spPr>
          <a:xfrm>
            <a:off x="1" y="1476775"/>
            <a:ext cx="4294800" cy="3666600"/>
          </a:xfrm>
          <a:prstGeom prst="rect">
            <a:avLst/>
          </a:prstGeom>
          <a:noFill/>
          <a:ln>
            <a:noFill/>
          </a:ln>
        </p:spPr>
      </p:sp>
      <p:sp>
        <p:nvSpPr>
          <p:cNvPr id="171" name="Google Shape;171;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2" name="Shape 172"/>
        <p:cNvGrpSpPr/>
        <p:nvPr/>
      </p:nvGrpSpPr>
      <p:grpSpPr>
        <a:xfrm>
          <a:off x="0" y="0"/>
          <a:ext cx="0" cy="0"/>
          <a:chOff x="0" y="0"/>
          <a:chExt cx="0" cy="0"/>
        </a:xfrm>
      </p:grpSpPr>
      <p:pic>
        <p:nvPicPr>
          <p:cNvPr id="173" name="Google Shape;173;p31" title="techstartup-osc.jpg"/>
          <p:cNvPicPr preferRelativeResize="0"/>
          <p:nvPr/>
        </p:nvPicPr>
        <p:blipFill rotWithShape="1">
          <a:blip r:embed="rId2">
            <a:alphaModFix/>
          </a:blip>
          <a:srcRect b="0" l="0" r="31125" t="31125"/>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74" name="Google Shape;174;p31"/>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75" name="Google Shape;175;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pic>
        <p:nvPicPr>
          <p:cNvPr id="177" name="Google Shape;177;p32"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78" name="Google Shape;178;p32"/>
          <p:cNvSpPr txBox="1"/>
          <p:nvPr>
            <p:ph type="title"/>
          </p:nvPr>
        </p:nvSpPr>
        <p:spPr>
          <a:xfrm>
            <a:off x="2135550" y="1189100"/>
            <a:ext cx="4872900" cy="196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179" name="Google Shape;179;p32"/>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0" name="Google Shape;18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1" name="Shape 181"/>
        <p:cNvGrpSpPr/>
        <p:nvPr/>
      </p:nvGrpSpPr>
      <p:grpSpPr>
        <a:xfrm>
          <a:off x="0" y="0"/>
          <a:ext cx="0" cy="0"/>
          <a:chOff x="0" y="0"/>
          <a:chExt cx="0" cy="0"/>
        </a:xfrm>
      </p:grpSpPr>
      <p:sp>
        <p:nvSpPr>
          <p:cNvPr id="182" name="Google Shape;182;p33"/>
          <p:cNvSpPr/>
          <p:nvPr>
            <p:ph idx="2" type="pic"/>
          </p:nvPr>
        </p:nvSpPr>
        <p:spPr>
          <a:xfrm>
            <a:off x="0" y="0"/>
            <a:ext cx="9144000" cy="5143500"/>
          </a:xfrm>
          <a:prstGeom prst="rect">
            <a:avLst/>
          </a:prstGeom>
          <a:noFill/>
          <a:ln>
            <a:noFill/>
          </a:ln>
        </p:spPr>
      </p:sp>
      <p:sp>
        <p:nvSpPr>
          <p:cNvPr id="183" name="Google Shape;183;p33"/>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2600"/>
              <a:buNone/>
              <a:defRPr>
                <a:solidFill>
                  <a:schemeClr val="lt1"/>
                </a:solidFill>
              </a:defRPr>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184" name="Google Shape;18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5" name="Shape 185"/>
        <p:cNvGrpSpPr/>
        <p:nvPr/>
      </p:nvGrpSpPr>
      <p:grpSpPr>
        <a:xfrm>
          <a:off x="0" y="0"/>
          <a:ext cx="0" cy="0"/>
          <a:chOff x="0" y="0"/>
          <a:chExt cx="0" cy="0"/>
        </a:xfrm>
      </p:grpSpPr>
      <p:pic>
        <p:nvPicPr>
          <p:cNvPr id="186" name="Google Shape;186;p34"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87" name="Google Shape;187;p34"/>
          <p:cNvSpPr txBox="1"/>
          <p:nvPr>
            <p:ph hasCustomPrompt="1" type="title"/>
          </p:nvPr>
        </p:nvSpPr>
        <p:spPr>
          <a:xfrm>
            <a:off x="713225" y="539500"/>
            <a:ext cx="6576000" cy="929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b="0" sz="6000">
                <a:latin typeface="Syne SemiBold"/>
                <a:ea typeface="Syne SemiBold"/>
                <a:cs typeface="Syne SemiBold"/>
                <a:sym typeface="Syne Semi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8" name="Google Shape;188;p34"/>
          <p:cNvSpPr txBox="1"/>
          <p:nvPr>
            <p:ph idx="1" type="subTitle"/>
          </p:nvPr>
        </p:nvSpPr>
        <p:spPr>
          <a:xfrm>
            <a:off x="5607575" y="3961100"/>
            <a:ext cx="2823300" cy="642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89" name="Google Shape;189;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0" name="Shape 190"/>
        <p:cNvGrpSpPr/>
        <p:nvPr/>
      </p:nvGrpSpPr>
      <p:grpSpPr>
        <a:xfrm>
          <a:off x="0" y="0"/>
          <a:ext cx="0" cy="0"/>
          <a:chOff x="0" y="0"/>
          <a:chExt cx="0" cy="0"/>
        </a:xfrm>
      </p:grpSpPr>
      <p:sp>
        <p:nvSpPr>
          <p:cNvPr id="191" name="Google Shape;191;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2" name="Shape 192"/>
        <p:cNvGrpSpPr/>
        <p:nvPr/>
      </p:nvGrpSpPr>
      <p:grpSpPr>
        <a:xfrm>
          <a:off x="0" y="0"/>
          <a:ext cx="0" cy="0"/>
          <a:chOff x="0" y="0"/>
          <a:chExt cx="0" cy="0"/>
        </a:xfrm>
      </p:grpSpPr>
      <p:pic>
        <p:nvPicPr>
          <p:cNvPr id="193" name="Google Shape;193;p36" title="techstartup-osc2.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94" name="Google Shape;194;p36"/>
          <p:cNvSpPr txBox="1"/>
          <p:nvPr>
            <p:ph type="title"/>
          </p:nvPr>
        </p:nvSpPr>
        <p:spPr>
          <a:xfrm>
            <a:off x="713225" y="539500"/>
            <a:ext cx="3686400" cy="6201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300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95" name="Google Shape;195;p36"/>
          <p:cNvSpPr txBox="1"/>
          <p:nvPr>
            <p:ph hasCustomPrompt="1" idx="2" type="title"/>
          </p:nvPr>
        </p:nvSpPr>
        <p:spPr>
          <a:xfrm>
            <a:off x="4494552" y="19510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196" name="Google Shape;196;p36"/>
          <p:cNvSpPr txBox="1"/>
          <p:nvPr>
            <p:ph hasCustomPrompt="1" idx="3" type="title"/>
          </p:nvPr>
        </p:nvSpPr>
        <p:spPr>
          <a:xfrm>
            <a:off x="4494552" y="33062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197" name="Google Shape;197;p36"/>
          <p:cNvSpPr txBox="1"/>
          <p:nvPr>
            <p:ph hasCustomPrompt="1" idx="4" type="title"/>
          </p:nvPr>
        </p:nvSpPr>
        <p:spPr>
          <a:xfrm>
            <a:off x="4494552" y="26286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198" name="Google Shape;198;p36"/>
          <p:cNvSpPr txBox="1"/>
          <p:nvPr>
            <p:ph hasCustomPrompt="1" idx="5" type="title"/>
          </p:nvPr>
        </p:nvSpPr>
        <p:spPr>
          <a:xfrm>
            <a:off x="4494552" y="3983875"/>
            <a:ext cx="1013400" cy="6201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a:r>
              <a:t>xx%</a:t>
            </a:r>
          </a:p>
        </p:txBody>
      </p:sp>
      <p:sp>
        <p:nvSpPr>
          <p:cNvPr id="199" name="Google Shape;199;p36"/>
          <p:cNvSpPr txBox="1"/>
          <p:nvPr>
            <p:ph idx="1" type="subTitle"/>
          </p:nvPr>
        </p:nvSpPr>
        <p:spPr>
          <a:xfrm>
            <a:off x="5559775" y="19510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00" name="Google Shape;200;p36"/>
          <p:cNvSpPr txBox="1"/>
          <p:nvPr>
            <p:ph idx="6" type="subTitle"/>
          </p:nvPr>
        </p:nvSpPr>
        <p:spPr>
          <a:xfrm>
            <a:off x="5559775" y="26286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01" name="Google Shape;201;p36"/>
          <p:cNvSpPr txBox="1"/>
          <p:nvPr>
            <p:ph idx="7" type="subTitle"/>
          </p:nvPr>
        </p:nvSpPr>
        <p:spPr>
          <a:xfrm>
            <a:off x="5559775" y="33062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02" name="Google Shape;202;p36"/>
          <p:cNvSpPr txBox="1"/>
          <p:nvPr>
            <p:ph idx="8" type="subTitle"/>
          </p:nvPr>
        </p:nvSpPr>
        <p:spPr>
          <a:xfrm>
            <a:off x="5559775" y="3983888"/>
            <a:ext cx="2871000" cy="620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03" name="Google Shape;203;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0">
    <p:spTree>
      <p:nvGrpSpPr>
        <p:cNvPr id="204" name="Shape 204"/>
        <p:cNvGrpSpPr/>
        <p:nvPr/>
      </p:nvGrpSpPr>
      <p:grpSpPr>
        <a:xfrm>
          <a:off x="0" y="0"/>
          <a:ext cx="0" cy="0"/>
          <a:chOff x="0" y="0"/>
          <a:chExt cx="0" cy="0"/>
        </a:xfrm>
      </p:grpSpPr>
      <p:pic>
        <p:nvPicPr>
          <p:cNvPr id="205" name="Google Shape;205;p37"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06" name="Google Shape;206;p37"/>
          <p:cNvSpPr txBox="1"/>
          <p:nvPr>
            <p:ph idx="1" type="subTitle"/>
          </p:nvPr>
        </p:nvSpPr>
        <p:spPr>
          <a:xfrm>
            <a:off x="4928800" y="1475100"/>
            <a:ext cx="3501900" cy="21933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07" name="Google Shape;207;p37"/>
          <p:cNvSpPr txBox="1"/>
          <p:nvPr>
            <p:ph type="title"/>
          </p:nvPr>
        </p:nvSpPr>
        <p:spPr>
          <a:xfrm>
            <a:off x="811975" y="539500"/>
            <a:ext cx="7618800" cy="572700"/>
          </a:xfrm>
          <a:prstGeom prst="rect">
            <a:avLst/>
          </a:prstGeom>
        </p:spPr>
        <p:txBody>
          <a:bodyPr anchorCtr="0" anchor="b" bIns="91425" lIns="91425" spcFirstLastPara="1" rIns="91425" wrap="square" tIns="91425">
            <a:noAutofit/>
          </a:bodyPr>
          <a:lstStyle>
            <a:lvl1pPr lvl="0">
              <a:spcBef>
                <a:spcPts val="0"/>
              </a:spcBef>
              <a:spcAft>
                <a:spcPts val="0"/>
              </a:spcAft>
              <a:buSzPts val="2600"/>
              <a:buNone/>
              <a:defRPr b="0">
                <a:latin typeface="Syne SemiBold"/>
                <a:ea typeface="Syne SemiBold"/>
                <a:cs typeface="Syne SemiBold"/>
                <a:sym typeface="Syne SemiBold"/>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08" name="Google Shape;208;p37"/>
          <p:cNvSpPr/>
          <p:nvPr>
            <p:ph idx="2" type="pic"/>
          </p:nvPr>
        </p:nvSpPr>
        <p:spPr>
          <a:xfrm>
            <a:off x="1" y="1476775"/>
            <a:ext cx="4294800" cy="3666600"/>
          </a:xfrm>
          <a:prstGeom prst="rect">
            <a:avLst/>
          </a:prstGeom>
          <a:noFill/>
          <a:ln>
            <a:noFill/>
          </a:ln>
        </p:spPr>
      </p:sp>
      <p:sp>
        <p:nvSpPr>
          <p:cNvPr id="209" name="Google Shape;209;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210" name="Shape 210"/>
        <p:cNvGrpSpPr/>
        <p:nvPr/>
      </p:nvGrpSpPr>
      <p:grpSpPr>
        <a:xfrm>
          <a:off x="0" y="0"/>
          <a:ext cx="0" cy="0"/>
          <a:chOff x="0" y="0"/>
          <a:chExt cx="0" cy="0"/>
        </a:xfrm>
      </p:grpSpPr>
      <p:pic>
        <p:nvPicPr>
          <p:cNvPr id="211" name="Google Shape;211;p38"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12" name="Google Shape;212;p38"/>
          <p:cNvSpPr txBox="1"/>
          <p:nvPr>
            <p:ph type="title"/>
          </p:nvPr>
        </p:nvSpPr>
        <p:spPr>
          <a:xfrm>
            <a:off x="762679" y="794675"/>
            <a:ext cx="7618500" cy="6984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2600"/>
              <a:buNone/>
              <a:defRPr b="0" sz="4000">
                <a:latin typeface="Syne SemiBold"/>
                <a:ea typeface="Syne SemiBold"/>
                <a:cs typeface="Syne SemiBold"/>
                <a:sym typeface="Syne SemiBold"/>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13" name="Google Shape;213;p38"/>
          <p:cNvSpPr txBox="1"/>
          <p:nvPr>
            <p:ph idx="1" type="body"/>
          </p:nvPr>
        </p:nvSpPr>
        <p:spPr>
          <a:xfrm>
            <a:off x="3185049" y="2398525"/>
            <a:ext cx="5196300" cy="1950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04800" lvl="1" marL="914400">
              <a:lnSpc>
                <a:spcPct val="115000"/>
              </a:lnSpc>
              <a:spcBef>
                <a:spcPts val="0"/>
              </a:spcBef>
              <a:spcAft>
                <a:spcPts val="0"/>
              </a:spcAft>
              <a:buSzPts val="1200"/>
              <a:buChar char="○"/>
              <a:defRPr/>
            </a:lvl2pPr>
            <a:lvl3pPr indent="-304800" lvl="2" marL="1371600">
              <a:lnSpc>
                <a:spcPct val="115000"/>
              </a:lnSpc>
              <a:spcBef>
                <a:spcPts val="0"/>
              </a:spcBef>
              <a:spcAft>
                <a:spcPts val="0"/>
              </a:spcAft>
              <a:buSzPts val="1200"/>
              <a:buChar char="■"/>
              <a:defRPr/>
            </a:lvl3pPr>
            <a:lvl4pPr indent="-304800" lvl="3" marL="1828800">
              <a:lnSpc>
                <a:spcPct val="115000"/>
              </a:lnSpc>
              <a:spcBef>
                <a:spcPts val="0"/>
              </a:spcBef>
              <a:spcAft>
                <a:spcPts val="0"/>
              </a:spcAft>
              <a:buSzPts val="1200"/>
              <a:buChar char="●"/>
              <a:defRPr/>
            </a:lvl4pPr>
            <a:lvl5pPr indent="-304800" lvl="4" marL="2286000">
              <a:lnSpc>
                <a:spcPct val="115000"/>
              </a:lnSpc>
              <a:spcBef>
                <a:spcPts val="0"/>
              </a:spcBef>
              <a:spcAft>
                <a:spcPts val="0"/>
              </a:spcAft>
              <a:buSzPts val="1200"/>
              <a:buChar char="○"/>
              <a:defRPr/>
            </a:lvl5pPr>
            <a:lvl6pPr indent="-304800" lvl="5" marL="2743200">
              <a:lnSpc>
                <a:spcPct val="115000"/>
              </a:lnSpc>
              <a:spcBef>
                <a:spcPts val="0"/>
              </a:spcBef>
              <a:spcAft>
                <a:spcPts val="0"/>
              </a:spcAft>
              <a:buSzPts val="1200"/>
              <a:buChar char="■"/>
              <a:defRPr/>
            </a:lvl6pPr>
            <a:lvl7pPr indent="-304800" lvl="6" marL="3200400">
              <a:lnSpc>
                <a:spcPct val="115000"/>
              </a:lnSpc>
              <a:spcBef>
                <a:spcPts val="0"/>
              </a:spcBef>
              <a:spcAft>
                <a:spcPts val="0"/>
              </a:spcAft>
              <a:buSzPts val="1200"/>
              <a:buChar char="●"/>
              <a:defRPr/>
            </a:lvl7pPr>
            <a:lvl8pPr indent="-304800" lvl="7" marL="3657600">
              <a:lnSpc>
                <a:spcPct val="115000"/>
              </a:lnSpc>
              <a:spcBef>
                <a:spcPts val="0"/>
              </a:spcBef>
              <a:spcAft>
                <a:spcPts val="0"/>
              </a:spcAft>
              <a:buSzPts val="1200"/>
              <a:buChar char="○"/>
              <a:defRPr/>
            </a:lvl8pPr>
            <a:lvl9pPr indent="-304800" lvl="8" marL="4114800">
              <a:lnSpc>
                <a:spcPct val="115000"/>
              </a:lnSpc>
              <a:spcBef>
                <a:spcPts val="0"/>
              </a:spcBef>
              <a:spcAft>
                <a:spcPts val="0"/>
              </a:spcAft>
              <a:buSzPts val="1200"/>
              <a:buChar char="■"/>
              <a:defRPr/>
            </a:lvl9pPr>
          </a:lstStyle>
          <a:p/>
        </p:txBody>
      </p:sp>
      <p:sp>
        <p:nvSpPr>
          <p:cNvPr id="214" name="Google Shape;214;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5" name="Shape 215"/>
        <p:cNvGrpSpPr/>
        <p:nvPr/>
      </p:nvGrpSpPr>
      <p:grpSpPr>
        <a:xfrm>
          <a:off x="0" y="0"/>
          <a:ext cx="0" cy="0"/>
          <a:chOff x="0" y="0"/>
          <a:chExt cx="0" cy="0"/>
        </a:xfrm>
      </p:grpSpPr>
      <p:pic>
        <p:nvPicPr>
          <p:cNvPr id="216" name="Google Shape;216;p39"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17" name="Google Shape;217;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18" name="Google Shape;218;p39"/>
          <p:cNvSpPr txBox="1"/>
          <p:nvPr>
            <p:ph idx="1" type="subTitle"/>
          </p:nvPr>
        </p:nvSpPr>
        <p:spPr>
          <a:xfrm>
            <a:off x="719750" y="3509900"/>
            <a:ext cx="3286800" cy="109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39"/>
          <p:cNvSpPr txBox="1"/>
          <p:nvPr>
            <p:ph idx="2" type="subTitle"/>
          </p:nvPr>
        </p:nvSpPr>
        <p:spPr>
          <a:xfrm>
            <a:off x="5137201" y="3499275"/>
            <a:ext cx="3286800" cy="99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0" name="Google Shape;220;p39"/>
          <p:cNvSpPr txBox="1"/>
          <p:nvPr>
            <p:ph idx="3" type="subTitle"/>
          </p:nvPr>
        </p:nvSpPr>
        <p:spPr>
          <a:xfrm>
            <a:off x="5137201" y="1451925"/>
            <a:ext cx="3286800" cy="99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1" name="Google Shape;221;p39"/>
          <p:cNvSpPr txBox="1"/>
          <p:nvPr>
            <p:ph idx="4" type="subTitle"/>
          </p:nvPr>
        </p:nvSpPr>
        <p:spPr>
          <a:xfrm>
            <a:off x="719750" y="2708600"/>
            <a:ext cx="32868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2" name="Google Shape;222;p39"/>
          <p:cNvSpPr txBox="1"/>
          <p:nvPr>
            <p:ph idx="5" type="subTitle"/>
          </p:nvPr>
        </p:nvSpPr>
        <p:spPr>
          <a:xfrm>
            <a:off x="5137201" y="2697975"/>
            <a:ext cx="32868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3" name="Google Shape;223;p39"/>
          <p:cNvSpPr txBox="1"/>
          <p:nvPr>
            <p:ph idx="6" type="subTitle"/>
          </p:nvPr>
        </p:nvSpPr>
        <p:spPr>
          <a:xfrm>
            <a:off x="5137204" y="650625"/>
            <a:ext cx="32868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4" name="Google Shape;224;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225" name="Shape 225"/>
        <p:cNvGrpSpPr/>
        <p:nvPr/>
      </p:nvGrpSpPr>
      <p:grpSpPr>
        <a:xfrm>
          <a:off x="0" y="0"/>
          <a:ext cx="0" cy="0"/>
          <a:chOff x="0" y="0"/>
          <a:chExt cx="0" cy="0"/>
        </a:xfrm>
      </p:grpSpPr>
      <p:pic>
        <p:nvPicPr>
          <p:cNvPr id="226" name="Google Shape;226;p40" title="techstartup-osc6.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27" name="Google Shape;227;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28" name="Google Shape;228;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_1">
    <p:spTree>
      <p:nvGrpSpPr>
        <p:cNvPr id="229" name="Shape 229"/>
        <p:cNvGrpSpPr/>
        <p:nvPr/>
      </p:nvGrpSpPr>
      <p:grpSpPr>
        <a:xfrm>
          <a:off x="0" y="0"/>
          <a:ext cx="0" cy="0"/>
          <a:chOff x="0" y="0"/>
          <a:chExt cx="0" cy="0"/>
        </a:xfrm>
      </p:grpSpPr>
      <p:pic>
        <p:nvPicPr>
          <p:cNvPr id="230" name="Google Shape;230;p41"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31" name="Google Shape;231;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32" name="Google Shape;232;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_1">
    <p:spTree>
      <p:nvGrpSpPr>
        <p:cNvPr id="233" name="Shape 233"/>
        <p:cNvGrpSpPr/>
        <p:nvPr/>
      </p:nvGrpSpPr>
      <p:grpSpPr>
        <a:xfrm>
          <a:off x="0" y="0"/>
          <a:ext cx="0" cy="0"/>
          <a:chOff x="0" y="0"/>
          <a:chExt cx="0" cy="0"/>
        </a:xfrm>
      </p:grpSpPr>
      <p:pic>
        <p:nvPicPr>
          <p:cNvPr id="234" name="Google Shape;234;p42"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35" name="Google Shape;23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36" name="Google Shape;236;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7" name="Shape 237"/>
        <p:cNvGrpSpPr/>
        <p:nvPr/>
      </p:nvGrpSpPr>
      <p:grpSpPr>
        <a:xfrm>
          <a:off x="0" y="0"/>
          <a:ext cx="0" cy="0"/>
          <a:chOff x="0" y="0"/>
          <a:chExt cx="0" cy="0"/>
        </a:xfrm>
      </p:grpSpPr>
      <p:pic>
        <p:nvPicPr>
          <p:cNvPr id="238" name="Google Shape;238;p43"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39" name="Google Shape;239;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40" name="Google Shape;240;p43"/>
          <p:cNvSpPr txBox="1"/>
          <p:nvPr>
            <p:ph idx="1" type="subTitle"/>
          </p:nvPr>
        </p:nvSpPr>
        <p:spPr>
          <a:xfrm>
            <a:off x="715400" y="1710171"/>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1" name="Google Shape;241;p43"/>
          <p:cNvSpPr txBox="1"/>
          <p:nvPr>
            <p:ph idx="2" type="subTitle"/>
          </p:nvPr>
        </p:nvSpPr>
        <p:spPr>
          <a:xfrm>
            <a:off x="3376873" y="1710149"/>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2" name="Google Shape;242;p43"/>
          <p:cNvSpPr txBox="1"/>
          <p:nvPr>
            <p:ph idx="3" type="subTitle"/>
          </p:nvPr>
        </p:nvSpPr>
        <p:spPr>
          <a:xfrm>
            <a:off x="715400" y="3498801"/>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3" name="Google Shape;243;p43"/>
          <p:cNvSpPr txBox="1"/>
          <p:nvPr>
            <p:ph idx="4" type="subTitle"/>
          </p:nvPr>
        </p:nvSpPr>
        <p:spPr>
          <a:xfrm>
            <a:off x="3376873" y="3498797"/>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4" name="Google Shape;244;p43"/>
          <p:cNvSpPr txBox="1"/>
          <p:nvPr>
            <p:ph idx="5" type="subTitle"/>
          </p:nvPr>
        </p:nvSpPr>
        <p:spPr>
          <a:xfrm>
            <a:off x="6033621" y="1710149"/>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5" name="Google Shape;245;p43"/>
          <p:cNvSpPr txBox="1"/>
          <p:nvPr>
            <p:ph idx="6" type="subTitle"/>
          </p:nvPr>
        </p:nvSpPr>
        <p:spPr>
          <a:xfrm>
            <a:off x="6033621" y="3498797"/>
            <a:ext cx="23928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6" name="Google Shape;246;p43"/>
          <p:cNvSpPr txBox="1"/>
          <p:nvPr>
            <p:ph idx="7" type="subTitle"/>
          </p:nvPr>
        </p:nvSpPr>
        <p:spPr>
          <a:xfrm>
            <a:off x="720114" y="1017725"/>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7" name="Google Shape;247;p43"/>
          <p:cNvSpPr txBox="1"/>
          <p:nvPr>
            <p:ph idx="8" type="subTitle"/>
          </p:nvPr>
        </p:nvSpPr>
        <p:spPr>
          <a:xfrm>
            <a:off x="3381406" y="1017725"/>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8" name="Google Shape;248;p43"/>
          <p:cNvSpPr txBox="1"/>
          <p:nvPr>
            <p:ph idx="9" type="subTitle"/>
          </p:nvPr>
        </p:nvSpPr>
        <p:spPr>
          <a:xfrm>
            <a:off x="6037972" y="1017725"/>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9" name="Google Shape;249;p43"/>
          <p:cNvSpPr txBox="1"/>
          <p:nvPr>
            <p:ph idx="13" type="subTitle"/>
          </p:nvPr>
        </p:nvSpPr>
        <p:spPr>
          <a:xfrm>
            <a:off x="720114" y="2803098"/>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0" name="Google Shape;250;p43"/>
          <p:cNvSpPr txBox="1"/>
          <p:nvPr>
            <p:ph idx="14" type="subTitle"/>
          </p:nvPr>
        </p:nvSpPr>
        <p:spPr>
          <a:xfrm>
            <a:off x="3381406" y="2803098"/>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1" name="Google Shape;251;p43"/>
          <p:cNvSpPr txBox="1"/>
          <p:nvPr>
            <p:ph idx="15" type="subTitle"/>
          </p:nvPr>
        </p:nvSpPr>
        <p:spPr>
          <a:xfrm>
            <a:off x="6037972" y="2803098"/>
            <a:ext cx="23928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2" name="Google Shape;252;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3" name="Shape 253"/>
        <p:cNvGrpSpPr/>
        <p:nvPr/>
      </p:nvGrpSpPr>
      <p:grpSpPr>
        <a:xfrm>
          <a:off x="0" y="0"/>
          <a:ext cx="0" cy="0"/>
          <a:chOff x="0" y="0"/>
          <a:chExt cx="0" cy="0"/>
        </a:xfrm>
      </p:grpSpPr>
      <p:pic>
        <p:nvPicPr>
          <p:cNvPr id="254" name="Google Shape;254;p44"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55" name="Google Shape;255;p44"/>
          <p:cNvSpPr txBox="1"/>
          <p:nvPr>
            <p:ph type="title"/>
          </p:nvPr>
        </p:nvSpPr>
        <p:spPr>
          <a:xfrm>
            <a:off x="713257" y="539500"/>
            <a:ext cx="2836800" cy="7860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b="0" sz="500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56" name="Google Shape;256;p44"/>
          <p:cNvSpPr txBox="1"/>
          <p:nvPr>
            <p:ph idx="1" type="subTitle"/>
          </p:nvPr>
        </p:nvSpPr>
        <p:spPr>
          <a:xfrm>
            <a:off x="713225" y="1325575"/>
            <a:ext cx="28368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7" name="Google Shape;257;p44"/>
          <p:cNvSpPr txBox="1"/>
          <p:nvPr/>
        </p:nvSpPr>
        <p:spPr>
          <a:xfrm>
            <a:off x="5004275" y="3649552"/>
            <a:ext cx="3426300" cy="6234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3"/>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5">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sp>
        <p:nvSpPr>
          <p:cNvPr id="258" name="Google Shape;258;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59" name="Shape 259"/>
        <p:cNvGrpSpPr/>
        <p:nvPr/>
      </p:nvGrpSpPr>
      <p:grpSpPr>
        <a:xfrm>
          <a:off x="0" y="0"/>
          <a:ext cx="0" cy="0"/>
          <a:chOff x="0" y="0"/>
          <a:chExt cx="0" cy="0"/>
        </a:xfrm>
      </p:grpSpPr>
      <p:pic>
        <p:nvPicPr>
          <p:cNvPr id="260" name="Google Shape;260;p45"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61" name="Google Shape;261;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62" name="Shape 262"/>
        <p:cNvGrpSpPr/>
        <p:nvPr/>
      </p:nvGrpSpPr>
      <p:grpSpPr>
        <a:xfrm>
          <a:off x="0" y="0"/>
          <a:ext cx="0" cy="0"/>
          <a:chOff x="0" y="0"/>
          <a:chExt cx="0" cy="0"/>
        </a:xfrm>
      </p:grpSpPr>
      <p:pic>
        <p:nvPicPr>
          <p:cNvPr id="263" name="Google Shape;263;p46" title="techstartup-osc1.jpg"/>
          <p:cNvPicPr preferRelativeResize="0"/>
          <p:nvPr/>
        </p:nvPicPr>
        <p:blipFill>
          <a:blip r:embed="rId2">
            <a:alphaModFix/>
          </a:blip>
          <a:stretch>
            <a:fillRect/>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64" name="Google Shape;264;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397992f7a3a_8_0)">
  <p:cSld name="Title slide (g397992f7a3a_8_0)">
    <p:spTree>
      <p:nvGrpSpPr>
        <p:cNvPr id="265" name="Shape 265"/>
        <p:cNvGrpSpPr/>
        <p:nvPr/>
      </p:nvGrpSpPr>
      <p:grpSpPr>
        <a:xfrm>
          <a:off x="0" y="0"/>
          <a:ext cx="0" cy="0"/>
          <a:chOff x="0" y="0"/>
          <a:chExt cx="0" cy="0"/>
        </a:xfrm>
      </p:grpSpPr>
      <p:sp>
        <p:nvSpPr>
          <p:cNvPr id="266" name="Google Shape;266;p47"/>
          <p:cNvSpPr txBox="1"/>
          <p:nvPr>
            <p:ph type="ctrTitle"/>
          </p:nvPr>
        </p:nvSpPr>
        <p:spPr>
          <a:xfrm>
            <a:off x="713250" y="928200"/>
            <a:ext cx="7717500" cy="2027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b="0" sz="5000">
                <a:latin typeface="Bebas Neue"/>
                <a:ea typeface="Bebas Neue"/>
                <a:cs typeface="Bebas Neue"/>
                <a:sym typeface="Bebas Ne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67" name="Google Shape;267;p47"/>
          <p:cNvSpPr txBox="1"/>
          <p:nvPr>
            <p:ph idx="1" type="subTitle"/>
          </p:nvPr>
        </p:nvSpPr>
        <p:spPr>
          <a:xfrm>
            <a:off x="5389400" y="3946400"/>
            <a:ext cx="3041400" cy="657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68" name="Google Shape;268;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2.xml"/><Relationship Id="rId11" Type="http://schemas.openxmlformats.org/officeDocument/2006/relationships/slideLayout" Target="../slideLayouts/slideLayout33.xml"/><Relationship Id="rId22" Type="http://schemas.openxmlformats.org/officeDocument/2006/relationships/slideLayout" Target="../slideLayouts/slideLayout44.xml"/><Relationship Id="rId10" Type="http://schemas.openxmlformats.org/officeDocument/2006/relationships/slideLayout" Target="../slideLayouts/slideLayout32.xml"/><Relationship Id="rId21" Type="http://schemas.openxmlformats.org/officeDocument/2006/relationships/slideLayout" Target="../slideLayouts/slideLayout43.xml"/><Relationship Id="rId13" Type="http://schemas.openxmlformats.org/officeDocument/2006/relationships/slideLayout" Target="../slideLayouts/slideLayout35.xml"/><Relationship Id="rId24" Type="http://schemas.openxmlformats.org/officeDocument/2006/relationships/theme" Target="../theme/theme1.xml"/><Relationship Id="rId12" Type="http://schemas.openxmlformats.org/officeDocument/2006/relationships/slideLayout" Target="../slideLayouts/slideLayout34.xml"/><Relationship Id="rId23" Type="http://schemas.openxmlformats.org/officeDocument/2006/relationships/slideLayout" Target="../slideLayouts/slideLayout45.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5" Type="http://schemas.openxmlformats.org/officeDocument/2006/relationships/slideLayout" Target="../slideLayouts/slideLayout27.xml"/><Relationship Id="rId19" Type="http://schemas.openxmlformats.org/officeDocument/2006/relationships/slideLayout" Target="../slideLayouts/slideLayout41.xml"/><Relationship Id="rId6" Type="http://schemas.openxmlformats.org/officeDocument/2006/relationships/slideLayout" Target="../slideLayouts/slideLayout28.xml"/><Relationship Id="rId18" Type="http://schemas.openxmlformats.org/officeDocument/2006/relationships/slideLayout" Target="../slideLayouts/slideLayout40.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1pPr>
            <a:lvl2pPr lvl="1"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2pPr>
            <a:lvl3pPr lvl="2"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3pPr>
            <a:lvl4pPr lvl="3"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4pPr>
            <a:lvl5pPr lvl="4"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5pPr>
            <a:lvl6pPr lvl="5"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6pPr>
            <a:lvl7pPr lvl="6"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7pPr>
            <a:lvl8pPr lvl="7"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8pPr>
            <a:lvl9pPr lvl="8"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Albert Sans"/>
                <a:ea typeface="Albert Sans"/>
                <a:cs typeface="Albert Sans"/>
                <a:sym typeface="Albert Sans"/>
              </a:defRPr>
            </a:lvl1pPr>
            <a:lvl2pPr lvl="1" algn="r">
              <a:buNone/>
              <a:defRPr sz="1300">
                <a:solidFill>
                  <a:schemeClr val="dk1"/>
                </a:solidFill>
                <a:latin typeface="Albert Sans"/>
                <a:ea typeface="Albert Sans"/>
                <a:cs typeface="Albert Sans"/>
                <a:sym typeface="Albert Sans"/>
              </a:defRPr>
            </a:lvl2pPr>
            <a:lvl3pPr lvl="2" algn="r">
              <a:buNone/>
              <a:defRPr sz="1300">
                <a:solidFill>
                  <a:schemeClr val="dk1"/>
                </a:solidFill>
                <a:latin typeface="Albert Sans"/>
                <a:ea typeface="Albert Sans"/>
                <a:cs typeface="Albert Sans"/>
                <a:sym typeface="Albert Sans"/>
              </a:defRPr>
            </a:lvl3pPr>
            <a:lvl4pPr lvl="3" algn="r">
              <a:buNone/>
              <a:defRPr sz="1300">
                <a:solidFill>
                  <a:schemeClr val="dk1"/>
                </a:solidFill>
                <a:latin typeface="Albert Sans"/>
                <a:ea typeface="Albert Sans"/>
                <a:cs typeface="Albert Sans"/>
                <a:sym typeface="Albert Sans"/>
              </a:defRPr>
            </a:lvl4pPr>
            <a:lvl5pPr lvl="4" algn="r">
              <a:buNone/>
              <a:defRPr sz="1300">
                <a:solidFill>
                  <a:schemeClr val="dk1"/>
                </a:solidFill>
                <a:latin typeface="Albert Sans"/>
                <a:ea typeface="Albert Sans"/>
                <a:cs typeface="Albert Sans"/>
                <a:sym typeface="Albert Sans"/>
              </a:defRPr>
            </a:lvl5pPr>
            <a:lvl6pPr lvl="5" algn="r">
              <a:buNone/>
              <a:defRPr sz="1300">
                <a:solidFill>
                  <a:schemeClr val="dk1"/>
                </a:solidFill>
                <a:latin typeface="Albert Sans"/>
                <a:ea typeface="Albert Sans"/>
                <a:cs typeface="Albert Sans"/>
                <a:sym typeface="Albert Sans"/>
              </a:defRPr>
            </a:lvl6pPr>
            <a:lvl7pPr lvl="6" algn="r">
              <a:buNone/>
              <a:defRPr sz="1300">
                <a:solidFill>
                  <a:schemeClr val="dk1"/>
                </a:solidFill>
                <a:latin typeface="Albert Sans"/>
                <a:ea typeface="Albert Sans"/>
                <a:cs typeface="Albert Sans"/>
                <a:sym typeface="Albert Sans"/>
              </a:defRPr>
            </a:lvl7pPr>
            <a:lvl8pPr lvl="7" algn="r">
              <a:buNone/>
              <a:defRPr sz="1300">
                <a:solidFill>
                  <a:schemeClr val="dk1"/>
                </a:solidFill>
                <a:latin typeface="Albert Sans"/>
                <a:ea typeface="Albert Sans"/>
                <a:cs typeface="Albert Sans"/>
                <a:sym typeface="Albert Sans"/>
              </a:defRPr>
            </a:lvl8pPr>
            <a:lvl9pPr lvl="8" algn="r">
              <a:buNone/>
              <a:defRPr sz="1300">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5" name="Shape 135"/>
        <p:cNvGrpSpPr/>
        <p:nvPr/>
      </p:nvGrpSpPr>
      <p:grpSpPr>
        <a:xfrm>
          <a:off x="0" y="0"/>
          <a:ext cx="0" cy="0"/>
          <a:chOff x="0" y="0"/>
          <a:chExt cx="0" cy="0"/>
        </a:xfrm>
      </p:grpSpPr>
      <p:sp>
        <p:nvSpPr>
          <p:cNvPr id="136" name="Google Shape;136;p2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1pPr>
            <a:lvl2pPr lvl="1"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2pPr>
            <a:lvl3pPr lvl="2"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3pPr>
            <a:lvl4pPr lvl="3"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4pPr>
            <a:lvl5pPr lvl="4"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5pPr>
            <a:lvl6pPr lvl="5"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6pPr>
            <a:lvl7pPr lvl="6"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7pPr>
            <a:lvl8pPr lvl="7"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8pPr>
            <a:lvl9pPr lvl="8" rtl="0">
              <a:spcBef>
                <a:spcPts val="0"/>
              </a:spcBef>
              <a:spcAft>
                <a:spcPts val="0"/>
              </a:spcAft>
              <a:buClr>
                <a:schemeClr val="dk1"/>
              </a:buClr>
              <a:buSzPts val="2600"/>
              <a:buFont typeface="Syne"/>
              <a:buNone/>
              <a:defRPr b="1" sz="2600">
                <a:solidFill>
                  <a:schemeClr val="dk1"/>
                </a:solidFill>
                <a:latin typeface="Syne"/>
                <a:ea typeface="Syne"/>
                <a:cs typeface="Syne"/>
                <a:sym typeface="Syne"/>
              </a:defRPr>
            </a:lvl9pPr>
          </a:lstStyle>
          <a:p/>
        </p:txBody>
      </p:sp>
      <p:sp>
        <p:nvSpPr>
          <p:cNvPr id="137" name="Google Shape;137;p2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138" name="Google Shape;138;p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Albert Sans"/>
                <a:ea typeface="Albert Sans"/>
                <a:cs typeface="Albert Sans"/>
                <a:sym typeface="Albert Sans"/>
              </a:defRPr>
            </a:lvl1pPr>
            <a:lvl2pPr lvl="1" algn="r">
              <a:buNone/>
              <a:defRPr sz="1300">
                <a:solidFill>
                  <a:schemeClr val="dk1"/>
                </a:solidFill>
                <a:latin typeface="Albert Sans"/>
                <a:ea typeface="Albert Sans"/>
                <a:cs typeface="Albert Sans"/>
                <a:sym typeface="Albert Sans"/>
              </a:defRPr>
            </a:lvl2pPr>
            <a:lvl3pPr lvl="2" algn="r">
              <a:buNone/>
              <a:defRPr sz="1300">
                <a:solidFill>
                  <a:schemeClr val="dk1"/>
                </a:solidFill>
                <a:latin typeface="Albert Sans"/>
                <a:ea typeface="Albert Sans"/>
                <a:cs typeface="Albert Sans"/>
                <a:sym typeface="Albert Sans"/>
              </a:defRPr>
            </a:lvl3pPr>
            <a:lvl4pPr lvl="3" algn="r">
              <a:buNone/>
              <a:defRPr sz="1300">
                <a:solidFill>
                  <a:schemeClr val="dk1"/>
                </a:solidFill>
                <a:latin typeface="Albert Sans"/>
                <a:ea typeface="Albert Sans"/>
                <a:cs typeface="Albert Sans"/>
                <a:sym typeface="Albert Sans"/>
              </a:defRPr>
            </a:lvl4pPr>
            <a:lvl5pPr lvl="4" algn="r">
              <a:buNone/>
              <a:defRPr sz="1300">
                <a:solidFill>
                  <a:schemeClr val="dk1"/>
                </a:solidFill>
                <a:latin typeface="Albert Sans"/>
                <a:ea typeface="Albert Sans"/>
                <a:cs typeface="Albert Sans"/>
                <a:sym typeface="Albert Sans"/>
              </a:defRPr>
            </a:lvl5pPr>
            <a:lvl6pPr lvl="5" algn="r">
              <a:buNone/>
              <a:defRPr sz="1300">
                <a:solidFill>
                  <a:schemeClr val="dk1"/>
                </a:solidFill>
                <a:latin typeface="Albert Sans"/>
                <a:ea typeface="Albert Sans"/>
                <a:cs typeface="Albert Sans"/>
                <a:sym typeface="Albert Sans"/>
              </a:defRPr>
            </a:lvl6pPr>
            <a:lvl7pPr lvl="6" algn="r">
              <a:buNone/>
              <a:defRPr sz="1300">
                <a:solidFill>
                  <a:schemeClr val="dk1"/>
                </a:solidFill>
                <a:latin typeface="Albert Sans"/>
                <a:ea typeface="Albert Sans"/>
                <a:cs typeface="Albert Sans"/>
                <a:sym typeface="Albert Sans"/>
              </a:defRPr>
            </a:lvl7pPr>
            <a:lvl8pPr lvl="7" algn="r">
              <a:buNone/>
              <a:defRPr sz="1300">
                <a:solidFill>
                  <a:schemeClr val="dk1"/>
                </a:solidFill>
                <a:latin typeface="Albert Sans"/>
                <a:ea typeface="Albert Sans"/>
                <a:cs typeface="Albert Sans"/>
                <a:sym typeface="Albert Sans"/>
              </a:defRPr>
            </a:lvl8pPr>
            <a:lvl9pPr lvl="8" algn="r">
              <a:buNone/>
              <a:defRPr sz="1300">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22.jp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9.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48"/>
          <p:cNvSpPr txBox="1"/>
          <p:nvPr>
            <p:ph idx="1" type="subTitle"/>
          </p:nvPr>
        </p:nvSpPr>
        <p:spPr>
          <a:xfrm>
            <a:off x="2404200" y="3104050"/>
            <a:ext cx="4335600" cy="65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Bruno Cassani, Jan Korec, Colin Norstad, Max Zhang</a:t>
            </a:r>
            <a:endParaRPr/>
          </a:p>
        </p:txBody>
      </p:sp>
      <p:sp>
        <p:nvSpPr>
          <p:cNvPr id="274" name="Google Shape;274;p48"/>
          <p:cNvSpPr txBox="1"/>
          <p:nvPr>
            <p:ph type="ctrTitle"/>
          </p:nvPr>
        </p:nvSpPr>
        <p:spPr>
          <a:xfrm>
            <a:off x="713250" y="958850"/>
            <a:ext cx="7717500" cy="20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CEFR Classification of English Language sentences</a:t>
            </a:r>
            <a:endParaRPr sz="5400"/>
          </a:p>
        </p:txBody>
      </p:sp>
      <p:sp>
        <p:nvSpPr>
          <p:cNvPr id="275" name="Google Shape;275;p48"/>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276" name="Google Shape;276;p48"/>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49"/>
          <p:cNvSpPr/>
          <p:nvPr/>
        </p:nvSpPr>
        <p:spPr>
          <a:xfrm>
            <a:off x="3376800" y="1513075"/>
            <a:ext cx="2390400" cy="12003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49"/>
          <p:cNvSpPr/>
          <p:nvPr/>
        </p:nvSpPr>
        <p:spPr>
          <a:xfrm>
            <a:off x="521875" y="2946725"/>
            <a:ext cx="2390400" cy="12003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49"/>
          <p:cNvSpPr/>
          <p:nvPr/>
        </p:nvSpPr>
        <p:spPr>
          <a:xfrm>
            <a:off x="3376800" y="2946725"/>
            <a:ext cx="2390400" cy="12003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49"/>
          <p:cNvSpPr/>
          <p:nvPr/>
        </p:nvSpPr>
        <p:spPr>
          <a:xfrm>
            <a:off x="6224200" y="1540775"/>
            <a:ext cx="2342700" cy="12003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49"/>
          <p:cNvSpPr/>
          <p:nvPr/>
        </p:nvSpPr>
        <p:spPr>
          <a:xfrm>
            <a:off x="6224200" y="2946725"/>
            <a:ext cx="2342700" cy="12003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49"/>
          <p:cNvSpPr txBox="1"/>
          <p:nvPr>
            <p:ph idx="1" type="subTitle"/>
          </p:nvPr>
        </p:nvSpPr>
        <p:spPr>
          <a:xfrm>
            <a:off x="234475" y="1513075"/>
            <a:ext cx="2965200" cy="113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1</a:t>
            </a:r>
            <a:endParaRPr sz="2000"/>
          </a:p>
          <a:p>
            <a:pPr indent="0" lvl="0" marL="0" rtl="0" algn="ctr">
              <a:spcBef>
                <a:spcPts val="0"/>
              </a:spcBef>
              <a:spcAft>
                <a:spcPts val="0"/>
              </a:spcAft>
              <a:buNone/>
            </a:pPr>
            <a:r>
              <a:rPr lang="en" sz="2000"/>
              <a:t>Motivation &amp; Introduction</a:t>
            </a:r>
            <a:endParaRPr sz="2000"/>
          </a:p>
        </p:txBody>
      </p:sp>
      <p:sp>
        <p:nvSpPr>
          <p:cNvPr id="287" name="Google Shape;287;p49"/>
          <p:cNvSpPr txBox="1"/>
          <p:nvPr>
            <p:ph type="ctrTitle"/>
          </p:nvPr>
        </p:nvSpPr>
        <p:spPr>
          <a:xfrm>
            <a:off x="25" y="2621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Agenda</a:t>
            </a:r>
            <a:endParaRPr sz="5400"/>
          </a:p>
        </p:txBody>
      </p:sp>
      <p:sp>
        <p:nvSpPr>
          <p:cNvPr id="288" name="Google Shape;288;p49"/>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289" name="Google Shape;289;p49"/>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290" name="Google Shape;290;p49"/>
          <p:cNvSpPr txBox="1"/>
          <p:nvPr>
            <p:ph idx="1" type="subTitle"/>
          </p:nvPr>
        </p:nvSpPr>
        <p:spPr>
          <a:xfrm>
            <a:off x="3089425" y="1650388"/>
            <a:ext cx="2965200" cy="113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2</a:t>
            </a:r>
            <a:endParaRPr sz="2000"/>
          </a:p>
          <a:p>
            <a:pPr indent="0" lvl="0" marL="0" rtl="0" algn="ctr">
              <a:spcBef>
                <a:spcPts val="0"/>
              </a:spcBef>
              <a:spcAft>
                <a:spcPts val="0"/>
              </a:spcAft>
              <a:buNone/>
            </a:pPr>
            <a:r>
              <a:rPr lang="en" sz="2000"/>
              <a:t>Data</a:t>
            </a:r>
            <a:endParaRPr sz="2000"/>
          </a:p>
        </p:txBody>
      </p:sp>
      <p:sp>
        <p:nvSpPr>
          <p:cNvPr id="291" name="Google Shape;291;p49"/>
          <p:cNvSpPr txBox="1"/>
          <p:nvPr>
            <p:ph idx="1" type="subTitle"/>
          </p:nvPr>
        </p:nvSpPr>
        <p:spPr>
          <a:xfrm>
            <a:off x="5889175" y="1573163"/>
            <a:ext cx="2965200" cy="113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3</a:t>
            </a:r>
            <a:endParaRPr sz="2000"/>
          </a:p>
          <a:p>
            <a:pPr indent="0" lvl="0" marL="0" rtl="0" algn="ctr">
              <a:spcBef>
                <a:spcPts val="0"/>
              </a:spcBef>
              <a:spcAft>
                <a:spcPts val="0"/>
              </a:spcAft>
              <a:buNone/>
            </a:pPr>
            <a:r>
              <a:rPr lang="en" sz="2000"/>
              <a:t>Method</a:t>
            </a:r>
            <a:endParaRPr sz="2000"/>
          </a:p>
        </p:txBody>
      </p:sp>
      <p:sp>
        <p:nvSpPr>
          <p:cNvPr id="292" name="Google Shape;292;p49"/>
          <p:cNvSpPr txBox="1"/>
          <p:nvPr>
            <p:ph idx="1" type="subTitle"/>
          </p:nvPr>
        </p:nvSpPr>
        <p:spPr>
          <a:xfrm>
            <a:off x="234475" y="3034500"/>
            <a:ext cx="2965200" cy="113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4</a:t>
            </a:r>
            <a:endParaRPr sz="2000"/>
          </a:p>
          <a:p>
            <a:pPr indent="0" lvl="0" marL="0" rtl="0" algn="ctr">
              <a:spcBef>
                <a:spcPts val="0"/>
              </a:spcBef>
              <a:spcAft>
                <a:spcPts val="0"/>
              </a:spcAft>
              <a:buNone/>
            </a:pPr>
            <a:r>
              <a:rPr lang="en" sz="2000"/>
              <a:t>Experiments</a:t>
            </a:r>
            <a:endParaRPr sz="2000"/>
          </a:p>
        </p:txBody>
      </p:sp>
      <p:sp>
        <p:nvSpPr>
          <p:cNvPr id="293" name="Google Shape;293;p49"/>
          <p:cNvSpPr txBox="1"/>
          <p:nvPr>
            <p:ph idx="1" type="subTitle"/>
          </p:nvPr>
        </p:nvSpPr>
        <p:spPr>
          <a:xfrm>
            <a:off x="3089425" y="3066900"/>
            <a:ext cx="2965200" cy="113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5</a:t>
            </a:r>
            <a:endParaRPr sz="2000"/>
          </a:p>
          <a:p>
            <a:pPr indent="0" lvl="0" marL="0" rtl="0" algn="ctr">
              <a:spcBef>
                <a:spcPts val="0"/>
              </a:spcBef>
              <a:spcAft>
                <a:spcPts val="0"/>
              </a:spcAft>
              <a:buNone/>
            </a:pPr>
            <a:r>
              <a:rPr lang="en" sz="2000"/>
              <a:t>Results</a:t>
            </a:r>
            <a:endParaRPr sz="2000"/>
          </a:p>
        </p:txBody>
      </p:sp>
      <p:sp>
        <p:nvSpPr>
          <p:cNvPr id="294" name="Google Shape;294;p49"/>
          <p:cNvSpPr txBox="1"/>
          <p:nvPr>
            <p:ph idx="1" type="subTitle"/>
          </p:nvPr>
        </p:nvSpPr>
        <p:spPr>
          <a:xfrm>
            <a:off x="5889175" y="2874370"/>
            <a:ext cx="2965200" cy="113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6</a:t>
            </a:r>
            <a:endParaRPr sz="2000"/>
          </a:p>
          <a:p>
            <a:pPr indent="0" lvl="0" marL="0" rtl="0" algn="ctr">
              <a:spcBef>
                <a:spcPts val="0"/>
              </a:spcBef>
              <a:spcAft>
                <a:spcPts val="0"/>
              </a:spcAft>
              <a:buNone/>
            </a:pPr>
            <a:r>
              <a:rPr lang="en" sz="2000"/>
              <a:t>Conclusions &amp; </a:t>
            </a:r>
            <a:br>
              <a:rPr lang="en" sz="2000"/>
            </a:br>
            <a:r>
              <a:rPr lang="en" sz="2000"/>
              <a:t>Future Work</a:t>
            </a:r>
            <a:endParaRPr sz="2000"/>
          </a:p>
        </p:txBody>
      </p:sp>
      <p:sp>
        <p:nvSpPr>
          <p:cNvPr id="295" name="Google Shape;295;p49"/>
          <p:cNvSpPr/>
          <p:nvPr/>
        </p:nvSpPr>
        <p:spPr>
          <a:xfrm>
            <a:off x="529450" y="1513075"/>
            <a:ext cx="2390400" cy="12003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50"/>
          <p:cNvSpPr txBox="1"/>
          <p:nvPr>
            <p:ph idx="1" type="subTitle"/>
          </p:nvPr>
        </p:nvSpPr>
        <p:spPr>
          <a:xfrm>
            <a:off x="352225" y="1205900"/>
            <a:ext cx="5367600" cy="34176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Char char="●"/>
            </a:pPr>
            <a:r>
              <a:rPr b="1" lang="en"/>
              <a:t>English is </a:t>
            </a:r>
            <a:r>
              <a:rPr b="1" i="1" lang="en"/>
              <a:t>the</a:t>
            </a:r>
            <a:r>
              <a:rPr b="1" lang="en"/>
              <a:t> established global language</a:t>
            </a:r>
            <a:endParaRPr b="1"/>
          </a:p>
          <a:p>
            <a:pPr indent="-330200" lvl="1" marL="914400" rtl="0" algn="l">
              <a:lnSpc>
                <a:spcPct val="115000"/>
              </a:lnSpc>
              <a:spcBef>
                <a:spcPts val="0"/>
              </a:spcBef>
              <a:spcAft>
                <a:spcPts val="0"/>
              </a:spcAft>
              <a:buSzPts val="1600"/>
              <a:buChar char="○"/>
            </a:pPr>
            <a:r>
              <a:rPr lang="en" sz="1600"/>
              <a:t>Used in science, politics, trade, and media</a:t>
            </a:r>
            <a:br>
              <a:rPr lang="en" sz="1600"/>
            </a:br>
            <a:endParaRPr sz="1600"/>
          </a:p>
          <a:p>
            <a:pPr indent="-304800" lvl="0" marL="457200" rtl="0" algn="l">
              <a:lnSpc>
                <a:spcPct val="115000"/>
              </a:lnSpc>
              <a:spcBef>
                <a:spcPts val="0"/>
              </a:spcBef>
              <a:spcAft>
                <a:spcPts val="0"/>
              </a:spcAft>
              <a:buSzPts val="1200"/>
              <a:buChar char="●"/>
            </a:pPr>
            <a:r>
              <a:rPr lang="en"/>
              <a:t>English is the most commonly taught second language in the world</a:t>
            </a:r>
            <a:br>
              <a:rPr lang="en"/>
            </a:br>
            <a:endParaRPr/>
          </a:p>
          <a:p>
            <a:pPr indent="-304800" lvl="0" marL="457200" rtl="0" algn="l">
              <a:lnSpc>
                <a:spcPct val="115000"/>
              </a:lnSpc>
              <a:spcBef>
                <a:spcPts val="0"/>
              </a:spcBef>
              <a:spcAft>
                <a:spcPts val="0"/>
              </a:spcAft>
              <a:buSzPts val="1200"/>
              <a:buChar char="●"/>
            </a:pPr>
            <a:r>
              <a:rPr lang="en"/>
              <a:t>Current methods of evaluating English levels rely on subjective judgement</a:t>
            </a:r>
            <a:br>
              <a:rPr lang="en"/>
            </a:br>
            <a:endParaRPr/>
          </a:p>
          <a:p>
            <a:pPr indent="-304800" lvl="0" marL="457200" rtl="0" algn="l">
              <a:lnSpc>
                <a:spcPct val="115000"/>
              </a:lnSpc>
              <a:spcBef>
                <a:spcPts val="0"/>
              </a:spcBef>
              <a:spcAft>
                <a:spcPts val="0"/>
              </a:spcAft>
              <a:buSzPts val="1200"/>
              <a:buChar char="●"/>
            </a:pPr>
            <a:r>
              <a:rPr lang="en"/>
              <a:t>Wanted to explore ways of improving how the language is learned</a:t>
            </a:r>
            <a:endParaRPr/>
          </a:p>
          <a:p>
            <a:pPr indent="0" lvl="0" marL="914400" rtl="0" algn="l">
              <a:lnSpc>
                <a:spcPct val="115000"/>
              </a:lnSpc>
              <a:spcBef>
                <a:spcPts val="1200"/>
              </a:spcBef>
              <a:spcAft>
                <a:spcPts val="0"/>
              </a:spcAft>
              <a:buNone/>
            </a:pPr>
            <a:r>
              <a:t/>
            </a:r>
            <a:endParaRPr/>
          </a:p>
          <a:p>
            <a:pPr indent="-304800" lvl="0" marL="457200" rtl="0" algn="l">
              <a:lnSpc>
                <a:spcPct val="115000"/>
              </a:lnSpc>
              <a:spcBef>
                <a:spcPts val="1200"/>
              </a:spcBef>
              <a:spcAft>
                <a:spcPts val="0"/>
              </a:spcAft>
              <a:buSzPts val="1200"/>
              <a:buChar char="●"/>
            </a:pPr>
            <a:r>
              <a:t/>
            </a:r>
            <a:endParaRPr/>
          </a:p>
          <a:p>
            <a:pPr indent="-304800" lvl="0" marL="457200" rtl="0" algn="l">
              <a:lnSpc>
                <a:spcPct val="115000"/>
              </a:lnSpc>
              <a:spcBef>
                <a:spcPts val="0"/>
              </a:spcBef>
              <a:spcAft>
                <a:spcPts val="0"/>
              </a:spcAft>
              <a:buSzPts val="1200"/>
              <a:buChar char="●"/>
            </a:pPr>
            <a:r>
              <a:t/>
            </a:r>
            <a:endParaRPr/>
          </a:p>
          <a:p>
            <a:pPr indent="-342900" lvl="1" marL="914400" rtl="0" algn="ctr">
              <a:spcBef>
                <a:spcPts val="0"/>
              </a:spcBef>
              <a:spcAft>
                <a:spcPts val="0"/>
              </a:spcAft>
              <a:buSzPts val="1800"/>
              <a:buChar char="○"/>
            </a:pPr>
            <a:r>
              <a:t/>
            </a:r>
            <a:endParaRPr/>
          </a:p>
        </p:txBody>
      </p:sp>
      <p:sp>
        <p:nvSpPr>
          <p:cNvPr id="302" name="Google Shape;302;p50"/>
          <p:cNvSpPr txBox="1"/>
          <p:nvPr>
            <p:ph type="ctrTitle"/>
          </p:nvPr>
        </p:nvSpPr>
        <p:spPr>
          <a:xfrm>
            <a:off x="223525" y="253100"/>
            <a:ext cx="6611400" cy="95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400"/>
              <a:t>Introductio</a:t>
            </a:r>
            <a:r>
              <a:rPr lang="en" sz="5400"/>
              <a:t>n</a:t>
            </a:r>
            <a:r>
              <a:rPr lang="en" sz="5400"/>
              <a:t> &amp; Motivation</a:t>
            </a:r>
            <a:endParaRPr sz="5400"/>
          </a:p>
        </p:txBody>
      </p:sp>
      <p:sp>
        <p:nvSpPr>
          <p:cNvPr id="303" name="Google Shape;303;p50"/>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04" name="Google Shape;304;p50"/>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pic>
        <p:nvPicPr>
          <p:cNvPr id="305" name="Google Shape;305;p50" title="English_language_distribution.svg.png"/>
          <p:cNvPicPr preferRelativeResize="0"/>
          <p:nvPr/>
        </p:nvPicPr>
        <p:blipFill>
          <a:blip r:embed="rId3">
            <a:alphaModFix/>
          </a:blip>
          <a:stretch>
            <a:fillRect/>
          </a:stretch>
        </p:blipFill>
        <p:spPr>
          <a:xfrm>
            <a:off x="5719750" y="1036149"/>
            <a:ext cx="3424250" cy="1738875"/>
          </a:xfrm>
          <a:prstGeom prst="rect">
            <a:avLst/>
          </a:prstGeom>
          <a:noFill/>
          <a:ln>
            <a:noFill/>
          </a:ln>
        </p:spPr>
      </p:pic>
      <p:pic>
        <p:nvPicPr>
          <p:cNvPr descr="Flag of the United States of America | History, Meaning, Facts, &amp; Design |  Britannica" id="306" name="Google Shape;306;p50"/>
          <p:cNvPicPr preferRelativeResize="0"/>
          <p:nvPr/>
        </p:nvPicPr>
        <p:blipFill>
          <a:blip r:embed="rId4">
            <a:alphaModFix/>
          </a:blip>
          <a:stretch>
            <a:fillRect/>
          </a:stretch>
        </p:blipFill>
        <p:spPr>
          <a:xfrm>
            <a:off x="5929475" y="3014250"/>
            <a:ext cx="1428624" cy="743774"/>
          </a:xfrm>
          <a:prstGeom prst="rect">
            <a:avLst/>
          </a:prstGeom>
          <a:noFill/>
          <a:ln>
            <a:noFill/>
          </a:ln>
        </p:spPr>
      </p:pic>
      <p:pic>
        <p:nvPicPr>
          <p:cNvPr descr="Flag of Canada - Wikipedia" id="307" name="Google Shape;307;p50"/>
          <p:cNvPicPr preferRelativeResize="0"/>
          <p:nvPr/>
        </p:nvPicPr>
        <p:blipFill>
          <a:blip r:embed="rId5">
            <a:alphaModFix/>
          </a:blip>
          <a:stretch>
            <a:fillRect/>
          </a:stretch>
        </p:blipFill>
        <p:spPr>
          <a:xfrm>
            <a:off x="7439150" y="3014250"/>
            <a:ext cx="1487525" cy="743776"/>
          </a:xfrm>
          <a:prstGeom prst="rect">
            <a:avLst/>
          </a:prstGeom>
          <a:noFill/>
          <a:ln>
            <a:noFill/>
          </a:ln>
        </p:spPr>
      </p:pic>
      <p:pic>
        <p:nvPicPr>
          <p:cNvPr descr="Flag of Australia - Wikipedia" id="308" name="Google Shape;308;p50"/>
          <p:cNvPicPr preferRelativeResize="0"/>
          <p:nvPr/>
        </p:nvPicPr>
        <p:blipFill>
          <a:blip r:embed="rId6">
            <a:alphaModFix/>
          </a:blip>
          <a:stretch>
            <a:fillRect/>
          </a:stretch>
        </p:blipFill>
        <p:spPr>
          <a:xfrm>
            <a:off x="5929475" y="3876325"/>
            <a:ext cx="1428624" cy="714312"/>
          </a:xfrm>
          <a:prstGeom prst="rect">
            <a:avLst/>
          </a:prstGeom>
          <a:noFill/>
          <a:ln>
            <a:noFill/>
          </a:ln>
        </p:spPr>
      </p:pic>
      <p:pic>
        <p:nvPicPr>
          <p:cNvPr descr="Flag of the United Kingdom | History, Meaning, Colors &amp; Design | Britannica" id="309" name="Google Shape;309;p50"/>
          <p:cNvPicPr preferRelativeResize="0"/>
          <p:nvPr/>
        </p:nvPicPr>
        <p:blipFill>
          <a:blip r:embed="rId7">
            <a:alphaModFix/>
          </a:blip>
          <a:stretch>
            <a:fillRect/>
          </a:stretch>
        </p:blipFill>
        <p:spPr>
          <a:xfrm>
            <a:off x="7439150" y="3876325"/>
            <a:ext cx="1487551" cy="743776"/>
          </a:xfrm>
          <a:prstGeom prst="rect">
            <a:avLst/>
          </a:prstGeom>
          <a:noFill/>
          <a:ln>
            <a:noFill/>
          </a:ln>
        </p:spPr>
      </p:pic>
      <p:sp>
        <p:nvSpPr>
          <p:cNvPr id="310" name="Google Shape;310;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 name="Shape 314"/>
        <p:cNvGrpSpPr/>
        <p:nvPr/>
      </p:nvGrpSpPr>
      <p:grpSpPr>
        <a:xfrm>
          <a:off x="0" y="0"/>
          <a:ext cx="0" cy="0"/>
          <a:chOff x="0" y="0"/>
          <a:chExt cx="0" cy="0"/>
        </a:xfrm>
      </p:grpSpPr>
      <p:sp>
        <p:nvSpPr>
          <p:cNvPr id="315" name="Google Shape;315;p51"/>
          <p:cNvSpPr txBox="1"/>
          <p:nvPr>
            <p:ph idx="1" type="subTitle"/>
          </p:nvPr>
        </p:nvSpPr>
        <p:spPr>
          <a:xfrm>
            <a:off x="352225" y="1205900"/>
            <a:ext cx="5955300" cy="34176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b="1" lang="en"/>
              <a:t>CEFR</a:t>
            </a:r>
            <a:r>
              <a:rPr lang="en"/>
              <a:t>  </a:t>
            </a:r>
            <a:endParaRPr/>
          </a:p>
          <a:p>
            <a:pPr indent="-330200" lvl="1" marL="914400" rtl="0" algn="l">
              <a:lnSpc>
                <a:spcPct val="115000"/>
              </a:lnSpc>
              <a:spcBef>
                <a:spcPts val="0"/>
              </a:spcBef>
              <a:spcAft>
                <a:spcPts val="0"/>
              </a:spcAft>
              <a:buSzPts val="1600"/>
              <a:buChar char="○"/>
            </a:pPr>
            <a:r>
              <a:rPr lang="en" sz="1600"/>
              <a:t>The Common European Framework of Reference for Languages </a:t>
            </a:r>
            <a:endParaRPr sz="1600"/>
          </a:p>
          <a:p>
            <a:pPr indent="-330200" lvl="1" marL="914400" rtl="0" algn="l">
              <a:lnSpc>
                <a:spcPct val="115000"/>
              </a:lnSpc>
              <a:spcBef>
                <a:spcPts val="0"/>
              </a:spcBef>
              <a:spcAft>
                <a:spcPts val="0"/>
              </a:spcAft>
              <a:buSzPts val="1600"/>
              <a:buChar char="○"/>
            </a:pPr>
            <a:r>
              <a:rPr lang="en" sz="1600"/>
              <a:t>Standardized system  → 6 levels </a:t>
            </a:r>
            <a:br>
              <a:rPr lang="en" sz="1600"/>
            </a:br>
            <a:endParaRPr sz="1600"/>
          </a:p>
          <a:p>
            <a:pPr indent="-330200" lvl="0" marL="457200" rtl="0" algn="l">
              <a:lnSpc>
                <a:spcPct val="115000"/>
              </a:lnSpc>
              <a:spcBef>
                <a:spcPts val="0"/>
              </a:spcBef>
              <a:spcAft>
                <a:spcPts val="0"/>
              </a:spcAft>
              <a:buSzPts val="1600"/>
              <a:buChar char="●"/>
            </a:pPr>
            <a:r>
              <a:rPr lang="en"/>
              <a:t>Aim to develop a model able to classify CEFR levels and give real-time feedback to learners</a:t>
            </a:r>
            <a:br>
              <a:rPr lang="en"/>
            </a:br>
            <a:endParaRPr/>
          </a:p>
          <a:p>
            <a:pPr indent="-330200" lvl="0" marL="457200" rtl="0" algn="l">
              <a:lnSpc>
                <a:spcPct val="115000"/>
              </a:lnSpc>
              <a:spcBef>
                <a:spcPts val="0"/>
              </a:spcBef>
              <a:spcAft>
                <a:spcPts val="0"/>
              </a:spcAft>
              <a:buSzPts val="1600"/>
              <a:buChar char="●"/>
            </a:pPr>
            <a:r>
              <a:rPr lang="en"/>
              <a:t>Real-world </a:t>
            </a:r>
            <a:r>
              <a:rPr lang="en"/>
              <a:t>application</a:t>
            </a:r>
            <a:r>
              <a:rPr lang="en"/>
              <a:t> of a classification task</a:t>
            </a:r>
            <a:endParaRPr/>
          </a:p>
          <a:p>
            <a:pPr indent="0" lvl="0" marL="914400" rtl="0" algn="l">
              <a:lnSpc>
                <a:spcPct val="115000"/>
              </a:lnSpc>
              <a:spcBef>
                <a:spcPts val="1200"/>
              </a:spcBef>
              <a:spcAft>
                <a:spcPts val="0"/>
              </a:spcAft>
              <a:buNone/>
            </a:pPr>
            <a:br>
              <a:rPr lang="en"/>
            </a:br>
            <a:endParaRPr/>
          </a:p>
          <a:p>
            <a:pPr indent="0" lvl="0" marL="457200" rtl="0" algn="ctr">
              <a:spcBef>
                <a:spcPts val="1200"/>
              </a:spcBef>
              <a:spcAft>
                <a:spcPts val="0"/>
              </a:spcAft>
              <a:buNone/>
            </a:pPr>
            <a:r>
              <a:t/>
            </a:r>
            <a:endParaRPr/>
          </a:p>
        </p:txBody>
      </p:sp>
      <p:sp>
        <p:nvSpPr>
          <p:cNvPr id="316" name="Google Shape;316;p51"/>
          <p:cNvSpPr txBox="1"/>
          <p:nvPr>
            <p:ph type="ctrTitle"/>
          </p:nvPr>
        </p:nvSpPr>
        <p:spPr>
          <a:xfrm>
            <a:off x="223525" y="253100"/>
            <a:ext cx="6611400" cy="95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400"/>
              <a:t>Introductio</a:t>
            </a:r>
            <a:r>
              <a:rPr lang="en" sz="5400"/>
              <a:t>n</a:t>
            </a:r>
            <a:r>
              <a:rPr lang="en" sz="5400"/>
              <a:t> &amp; Motivation</a:t>
            </a:r>
            <a:endParaRPr sz="5400"/>
          </a:p>
        </p:txBody>
      </p:sp>
      <p:sp>
        <p:nvSpPr>
          <p:cNvPr id="317" name="Google Shape;317;p51"/>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18" name="Google Shape;318;p51"/>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51"/>
          <p:cNvSpPr/>
          <p:nvPr/>
        </p:nvSpPr>
        <p:spPr>
          <a:xfrm>
            <a:off x="6445200" y="838700"/>
            <a:ext cx="867900" cy="867900"/>
          </a:xfrm>
          <a:prstGeom prst="roundRect">
            <a:avLst>
              <a:gd fmla="val 16667" name="adj"/>
            </a:avLst>
          </a:prstGeom>
          <a:solidFill>
            <a:srgbClr val="A4C2F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Albert Sans"/>
                <a:ea typeface="Albert Sans"/>
                <a:cs typeface="Albert Sans"/>
                <a:sym typeface="Albert Sans"/>
              </a:rPr>
              <a:t>A1</a:t>
            </a:r>
            <a:endParaRPr b="1" sz="1800">
              <a:latin typeface="Albert Sans"/>
              <a:ea typeface="Albert Sans"/>
              <a:cs typeface="Albert Sans"/>
              <a:sym typeface="Albert Sans"/>
            </a:endParaRPr>
          </a:p>
        </p:txBody>
      </p:sp>
      <p:sp>
        <p:nvSpPr>
          <p:cNvPr id="320" name="Google Shape;320;p51"/>
          <p:cNvSpPr/>
          <p:nvPr/>
        </p:nvSpPr>
        <p:spPr>
          <a:xfrm>
            <a:off x="7375000" y="838700"/>
            <a:ext cx="867900" cy="867900"/>
          </a:xfrm>
          <a:prstGeom prst="roundRect">
            <a:avLst>
              <a:gd fmla="val 16667"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Albert Sans"/>
                <a:ea typeface="Albert Sans"/>
                <a:cs typeface="Albert Sans"/>
                <a:sym typeface="Albert Sans"/>
              </a:rPr>
              <a:t>A2</a:t>
            </a:r>
            <a:endParaRPr b="1" sz="1800">
              <a:latin typeface="Albert Sans"/>
              <a:ea typeface="Albert Sans"/>
              <a:cs typeface="Albert Sans"/>
              <a:sym typeface="Albert Sans"/>
            </a:endParaRPr>
          </a:p>
        </p:txBody>
      </p:sp>
      <p:sp>
        <p:nvSpPr>
          <p:cNvPr id="321" name="Google Shape;321;p51"/>
          <p:cNvSpPr/>
          <p:nvPr/>
        </p:nvSpPr>
        <p:spPr>
          <a:xfrm>
            <a:off x="6445200" y="320800"/>
            <a:ext cx="1797600" cy="433800"/>
          </a:xfrm>
          <a:prstGeom prst="rightArrow">
            <a:avLst>
              <a:gd fmla="val 50000" name="adj1"/>
              <a:gd fmla="val 50000" name="adj2"/>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Beginner</a:t>
            </a:r>
            <a:endParaRPr>
              <a:latin typeface="Albert Sans"/>
              <a:ea typeface="Albert Sans"/>
              <a:cs typeface="Albert Sans"/>
              <a:sym typeface="Albert Sans"/>
            </a:endParaRPr>
          </a:p>
        </p:txBody>
      </p:sp>
      <p:sp>
        <p:nvSpPr>
          <p:cNvPr id="322" name="Google Shape;322;p51"/>
          <p:cNvSpPr/>
          <p:nvPr/>
        </p:nvSpPr>
        <p:spPr>
          <a:xfrm>
            <a:off x="6489125" y="2308600"/>
            <a:ext cx="867900" cy="8679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Albert Sans"/>
                <a:ea typeface="Albert Sans"/>
                <a:cs typeface="Albert Sans"/>
                <a:sym typeface="Albert Sans"/>
              </a:rPr>
              <a:t>B1</a:t>
            </a:r>
            <a:endParaRPr b="1" sz="1800">
              <a:latin typeface="Albert Sans"/>
              <a:ea typeface="Albert Sans"/>
              <a:cs typeface="Albert Sans"/>
              <a:sym typeface="Albert Sans"/>
            </a:endParaRPr>
          </a:p>
        </p:txBody>
      </p:sp>
      <p:sp>
        <p:nvSpPr>
          <p:cNvPr id="323" name="Google Shape;323;p51"/>
          <p:cNvSpPr/>
          <p:nvPr/>
        </p:nvSpPr>
        <p:spPr>
          <a:xfrm>
            <a:off x="7418925" y="2308600"/>
            <a:ext cx="867900" cy="867900"/>
          </a:xfrm>
          <a:prstGeom prst="roundRect">
            <a:avLst>
              <a:gd fmla="val 16667"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Albert Sans"/>
                <a:ea typeface="Albert Sans"/>
                <a:cs typeface="Albert Sans"/>
                <a:sym typeface="Albert Sans"/>
              </a:rPr>
              <a:t>B2</a:t>
            </a:r>
            <a:endParaRPr b="1" sz="1800">
              <a:latin typeface="Albert Sans"/>
              <a:ea typeface="Albert Sans"/>
              <a:cs typeface="Albert Sans"/>
              <a:sym typeface="Albert Sans"/>
            </a:endParaRPr>
          </a:p>
        </p:txBody>
      </p:sp>
      <p:sp>
        <p:nvSpPr>
          <p:cNvPr id="324" name="Google Shape;324;p51"/>
          <p:cNvSpPr/>
          <p:nvPr/>
        </p:nvSpPr>
        <p:spPr>
          <a:xfrm>
            <a:off x="6489125" y="1790700"/>
            <a:ext cx="1797600" cy="433800"/>
          </a:xfrm>
          <a:prstGeom prst="rightArrow">
            <a:avLst>
              <a:gd fmla="val 50000" name="adj1"/>
              <a:gd fmla="val 50000" name="adj2"/>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Intermediate</a:t>
            </a:r>
            <a:endParaRPr>
              <a:latin typeface="Albert Sans"/>
              <a:ea typeface="Albert Sans"/>
              <a:cs typeface="Albert Sans"/>
              <a:sym typeface="Albert Sans"/>
            </a:endParaRPr>
          </a:p>
        </p:txBody>
      </p:sp>
      <p:sp>
        <p:nvSpPr>
          <p:cNvPr id="325" name="Google Shape;325;p51"/>
          <p:cNvSpPr/>
          <p:nvPr/>
        </p:nvSpPr>
        <p:spPr>
          <a:xfrm>
            <a:off x="6489075" y="3828250"/>
            <a:ext cx="867900" cy="867900"/>
          </a:xfrm>
          <a:prstGeom prst="roundRect">
            <a:avLst>
              <a:gd fmla="val 16667" name="adj"/>
            </a:avLst>
          </a:prstGeom>
          <a:solidFill>
            <a:srgbClr val="B6D7A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Albert Sans"/>
                <a:ea typeface="Albert Sans"/>
                <a:cs typeface="Albert Sans"/>
                <a:sym typeface="Albert Sans"/>
              </a:rPr>
              <a:t>C1</a:t>
            </a:r>
            <a:endParaRPr b="1" sz="1800">
              <a:latin typeface="Albert Sans"/>
              <a:ea typeface="Albert Sans"/>
              <a:cs typeface="Albert Sans"/>
              <a:sym typeface="Albert Sans"/>
            </a:endParaRPr>
          </a:p>
        </p:txBody>
      </p:sp>
      <p:sp>
        <p:nvSpPr>
          <p:cNvPr id="326" name="Google Shape;326;p51"/>
          <p:cNvSpPr/>
          <p:nvPr/>
        </p:nvSpPr>
        <p:spPr>
          <a:xfrm>
            <a:off x="7418875" y="3828250"/>
            <a:ext cx="867900" cy="867900"/>
          </a:xfrm>
          <a:prstGeom prst="roundRect">
            <a:avLst>
              <a:gd fmla="val 16667" name="adj"/>
            </a:avLst>
          </a:prstGeom>
          <a:solidFill>
            <a:srgbClr val="4ACD0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Albert Sans"/>
                <a:ea typeface="Albert Sans"/>
                <a:cs typeface="Albert Sans"/>
                <a:sym typeface="Albert Sans"/>
              </a:rPr>
              <a:t>C2</a:t>
            </a:r>
            <a:endParaRPr b="1" sz="1800">
              <a:latin typeface="Albert Sans"/>
              <a:ea typeface="Albert Sans"/>
              <a:cs typeface="Albert Sans"/>
              <a:sym typeface="Albert Sans"/>
            </a:endParaRPr>
          </a:p>
        </p:txBody>
      </p:sp>
      <p:sp>
        <p:nvSpPr>
          <p:cNvPr id="327" name="Google Shape;327;p51"/>
          <p:cNvSpPr/>
          <p:nvPr/>
        </p:nvSpPr>
        <p:spPr>
          <a:xfrm>
            <a:off x="6489075" y="3310350"/>
            <a:ext cx="1797600" cy="433800"/>
          </a:xfrm>
          <a:prstGeom prst="rightArrow">
            <a:avLst>
              <a:gd fmla="val 50000" name="adj1"/>
              <a:gd fmla="val 50000" name="adj2"/>
            </a:avLst>
          </a:prstGeom>
          <a:solidFill>
            <a:srgbClr val="4ACC1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Advanced</a:t>
            </a:r>
            <a:endParaRPr>
              <a:latin typeface="Albert Sans"/>
              <a:ea typeface="Albert Sans"/>
              <a:cs typeface="Albert Sans"/>
              <a:sym typeface="Albert Sans"/>
            </a:endParaRPr>
          </a:p>
        </p:txBody>
      </p:sp>
      <p:sp>
        <p:nvSpPr>
          <p:cNvPr id="328" name="Google Shape;328;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id="333" name="Google Shape;333;p52"/>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EXAMPLES</a:t>
            </a:r>
            <a:endParaRPr sz="5400"/>
          </a:p>
        </p:txBody>
      </p:sp>
      <p:sp>
        <p:nvSpPr>
          <p:cNvPr id="334" name="Google Shape;334;p52"/>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35" name="Google Shape;335;p52"/>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graphicFrame>
        <p:nvGraphicFramePr>
          <p:cNvPr id="336" name="Google Shape;336;p52"/>
          <p:cNvGraphicFramePr/>
          <p:nvPr/>
        </p:nvGraphicFramePr>
        <p:xfrm>
          <a:off x="819875" y="1254850"/>
          <a:ext cx="3000000" cy="3000000"/>
        </p:xfrm>
        <a:graphic>
          <a:graphicData uri="http://schemas.openxmlformats.org/drawingml/2006/table">
            <a:tbl>
              <a:tblPr>
                <a:noFill/>
                <a:tableStyleId>{345A9BC6-8CD5-4C3E-ABC0-0DEC419FA553}</a:tableStyleId>
              </a:tblPr>
              <a:tblGrid>
                <a:gridCol w="6679525"/>
                <a:gridCol w="969425"/>
              </a:tblGrid>
              <a:tr h="393200">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Sentence</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Label</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658450">
                <a:tc>
                  <a:txBody>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I finished the project with my team on time.</a:t>
                      </a:r>
                      <a:endParaRPr sz="16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A1</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r>
              <a:tr h="658450">
                <a:tc>
                  <a:txBody>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Although the project was challenging, we managed to finish it on time by working together efficiently.</a:t>
                      </a:r>
                      <a:endParaRPr sz="16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B2</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1C232"/>
                    </a:solidFill>
                  </a:tcPr>
                </a:tc>
              </a:tr>
              <a:tr h="658450">
                <a:tc>
                  <a:txBody>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Despite encountering several unforeseen complications throughout the project, we were nevertheless able to complete it on schedule through sustained collaboration and careful resource management.</a:t>
                      </a:r>
                      <a:endParaRPr sz="16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C1</a:t>
                      </a:r>
                      <a:endParaRPr sz="1600">
                        <a:solidFill>
                          <a:srgbClr val="93C47D"/>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4ACC11"/>
                    </a:solidFill>
                  </a:tcPr>
                </a:tc>
              </a:tr>
            </a:tbl>
          </a:graphicData>
        </a:graphic>
      </p:graphicFrame>
      <p:sp>
        <p:nvSpPr>
          <p:cNvPr id="337" name="Google Shape;337;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sp>
        <p:nvSpPr>
          <p:cNvPr id="342" name="Google Shape;342;p53"/>
          <p:cNvSpPr txBox="1"/>
          <p:nvPr>
            <p:ph idx="1" type="subTitle"/>
          </p:nvPr>
        </p:nvSpPr>
        <p:spPr>
          <a:xfrm>
            <a:off x="260050" y="979625"/>
            <a:ext cx="4996200" cy="34176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Study by Yuki Arase et. al with a similar motivation</a:t>
            </a:r>
            <a:endParaRPr/>
          </a:p>
          <a:p>
            <a:pPr indent="-330200" lvl="1" marL="914400" rtl="0" algn="l">
              <a:lnSpc>
                <a:spcPct val="115000"/>
              </a:lnSpc>
              <a:spcBef>
                <a:spcPts val="0"/>
              </a:spcBef>
              <a:spcAft>
                <a:spcPts val="0"/>
              </a:spcAft>
              <a:buSzPts val="1600"/>
              <a:buChar char="○"/>
            </a:pPr>
            <a:r>
              <a:rPr lang="en" sz="1600"/>
              <a:t>Open-source dataset on GitHub</a:t>
            </a:r>
            <a:endParaRPr sz="1600"/>
          </a:p>
          <a:p>
            <a:pPr indent="-330200" lvl="1" marL="914400" rtl="0" algn="l">
              <a:lnSpc>
                <a:spcPct val="115000"/>
              </a:lnSpc>
              <a:spcBef>
                <a:spcPts val="0"/>
              </a:spcBef>
              <a:spcAft>
                <a:spcPts val="0"/>
              </a:spcAft>
              <a:buSzPts val="1600"/>
              <a:buChar char="○"/>
            </a:pPr>
            <a:r>
              <a:rPr lang="en" sz="1600"/>
              <a:t>Annotated </a:t>
            </a:r>
            <a:r>
              <a:rPr b="1" lang="en" sz="1600"/>
              <a:t>sentences</a:t>
            </a:r>
            <a:endParaRPr b="1" sz="1600"/>
          </a:p>
          <a:p>
            <a:pPr indent="-330200" lvl="1" marL="914400" rtl="0" algn="l">
              <a:lnSpc>
                <a:spcPct val="115000"/>
              </a:lnSpc>
              <a:spcBef>
                <a:spcPts val="0"/>
              </a:spcBef>
              <a:spcAft>
                <a:spcPts val="0"/>
              </a:spcAft>
              <a:buSzPts val="1600"/>
              <a:buChar char="○"/>
            </a:pPr>
            <a:r>
              <a:rPr lang="en" sz="1600"/>
              <a:t>One of the source</a:t>
            </a:r>
            <a:r>
              <a:rPr lang="en" sz="1600"/>
              <a:t>s was missing</a:t>
            </a:r>
            <a:br>
              <a:rPr lang="en" sz="1600"/>
            </a:br>
            <a:endParaRPr sz="1000"/>
          </a:p>
          <a:p>
            <a:pPr indent="-330200" lvl="0" marL="457200" rtl="0" algn="l">
              <a:lnSpc>
                <a:spcPct val="115000"/>
              </a:lnSpc>
              <a:spcBef>
                <a:spcPts val="0"/>
              </a:spcBef>
              <a:spcAft>
                <a:spcPts val="0"/>
              </a:spcAft>
              <a:buSzPts val="1600"/>
              <a:buChar char="●"/>
            </a:pPr>
            <a:r>
              <a:rPr lang="en"/>
              <a:t>Stratified 80/20 split*</a:t>
            </a:r>
            <a:br>
              <a:rPr lang="en"/>
            </a:br>
            <a:endParaRPr/>
          </a:p>
          <a:p>
            <a:pPr indent="-330200" lvl="0" marL="457200" rtl="0" algn="l">
              <a:lnSpc>
                <a:spcPct val="115000"/>
              </a:lnSpc>
              <a:spcBef>
                <a:spcPts val="0"/>
              </a:spcBef>
              <a:spcAft>
                <a:spcPts val="0"/>
              </a:spcAft>
              <a:buSzPts val="1600"/>
              <a:buChar char="●"/>
            </a:pPr>
            <a:r>
              <a:rPr lang="en"/>
              <a:t>Augmented test data with another dataset from Kaggle</a:t>
            </a:r>
            <a:endParaRPr/>
          </a:p>
          <a:p>
            <a:pPr indent="-330200" lvl="1" marL="914400" rtl="0" algn="l">
              <a:lnSpc>
                <a:spcPct val="115000"/>
              </a:lnSpc>
              <a:spcBef>
                <a:spcPts val="0"/>
              </a:spcBef>
              <a:spcAft>
                <a:spcPts val="0"/>
              </a:spcAft>
              <a:buSzPts val="1600"/>
              <a:buChar char="○"/>
            </a:pPr>
            <a:r>
              <a:rPr lang="en" sz="1600"/>
              <a:t>Annotated </a:t>
            </a:r>
            <a:r>
              <a:rPr b="1" lang="en" sz="1600"/>
              <a:t>paragraphs</a:t>
            </a:r>
            <a:endParaRPr b="1" sz="1600"/>
          </a:p>
          <a:p>
            <a:pPr indent="-330200" lvl="1" marL="914400" rtl="0" algn="l">
              <a:lnSpc>
                <a:spcPct val="115000"/>
              </a:lnSpc>
              <a:spcBef>
                <a:spcPts val="0"/>
              </a:spcBef>
              <a:spcAft>
                <a:spcPts val="0"/>
              </a:spcAft>
              <a:buSzPts val="1600"/>
              <a:buChar char="○"/>
            </a:pPr>
            <a:r>
              <a:rPr lang="en" sz="1600"/>
              <a:t>Preprocessing</a:t>
            </a:r>
            <a:r>
              <a:rPr lang="en" sz="1600"/>
              <a:t> required </a:t>
            </a:r>
            <a:endParaRPr sz="1600"/>
          </a:p>
        </p:txBody>
      </p:sp>
      <p:sp>
        <p:nvSpPr>
          <p:cNvPr id="343" name="Google Shape;343;p53"/>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DATA OVERVIEW</a:t>
            </a:r>
            <a:endParaRPr sz="5400"/>
          </a:p>
        </p:txBody>
      </p:sp>
      <p:sp>
        <p:nvSpPr>
          <p:cNvPr id="344" name="Google Shape;344;p53"/>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45" name="Google Shape;345;p53"/>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pic>
        <p:nvPicPr>
          <p:cNvPr id="346" name="Google Shape;346;p53" title="Chart"/>
          <p:cNvPicPr preferRelativeResize="0"/>
          <p:nvPr/>
        </p:nvPicPr>
        <p:blipFill>
          <a:blip r:embed="rId3">
            <a:alphaModFix/>
          </a:blip>
          <a:stretch>
            <a:fillRect/>
          </a:stretch>
        </p:blipFill>
        <p:spPr>
          <a:xfrm>
            <a:off x="9488200" y="225775"/>
            <a:ext cx="3861450" cy="2387674"/>
          </a:xfrm>
          <a:prstGeom prst="rect">
            <a:avLst/>
          </a:prstGeom>
          <a:noFill/>
          <a:ln>
            <a:noFill/>
          </a:ln>
        </p:spPr>
      </p:pic>
      <p:sp>
        <p:nvSpPr>
          <p:cNvPr id="347" name="Google Shape;347;p53"/>
          <p:cNvSpPr txBox="1"/>
          <p:nvPr/>
        </p:nvSpPr>
        <p:spPr>
          <a:xfrm>
            <a:off x="5570013" y="3726050"/>
            <a:ext cx="2821500" cy="49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Albert Sans"/>
                <a:ea typeface="Albert Sans"/>
                <a:cs typeface="Albert Sans"/>
                <a:sym typeface="Albert Sans"/>
              </a:rPr>
              <a:t>Class Distribution Overview (GitHub + Kaggle data combined)</a:t>
            </a:r>
            <a:endParaRPr sz="1000">
              <a:solidFill>
                <a:schemeClr val="dk1"/>
              </a:solidFill>
              <a:latin typeface="Albert Sans"/>
              <a:ea typeface="Albert Sans"/>
              <a:cs typeface="Albert Sans"/>
              <a:sym typeface="Albert Sans"/>
            </a:endParaRPr>
          </a:p>
        </p:txBody>
      </p:sp>
      <p:pic>
        <p:nvPicPr>
          <p:cNvPr id="348" name="Google Shape;348;p53" title="Chart"/>
          <p:cNvPicPr preferRelativeResize="0"/>
          <p:nvPr/>
        </p:nvPicPr>
        <p:blipFill>
          <a:blip r:embed="rId4">
            <a:alphaModFix/>
          </a:blip>
          <a:stretch>
            <a:fillRect/>
          </a:stretch>
        </p:blipFill>
        <p:spPr>
          <a:xfrm>
            <a:off x="4943600" y="1330950"/>
            <a:ext cx="4074351" cy="2519326"/>
          </a:xfrm>
          <a:prstGeom prst="rect">
            <a:avLst/>
          </a:prstGeom>
          <a:noFill/>
          <a:ln>
            <a:noFill/>
          </a:ln>
        </p:spPr>
      </p:pic>
      <p:sp>
        <p:nvSpPr>
          <p:cNvPr id="349" name="Google Shape;349;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 name="Shape 353"/>
        <p:cNvGrpSpPr/>
        <p:nvPr/>
      </p:nvGrpSpPr>
      <p:grpSpPr>
        <a:xfrm>
          <a:off x="0" y="0"/>
          <a:ext cx="0" cy="0"/>
          <a:chOff x="0" y="0"/>
          <a:chExt cx="0" cy="0"/>
        </a:xfrm>
      </p:grpSpPr>
      <p:sp>
        <p:nvSpPr>
          <p:cNvPr id="354" name="Google Shape;354;p54"/>
          <p:cNvSpPr/>
          <p:nvPr/>
        </p:nvSpPr>
        <p:spPr>
          <a:xfrm>
            <a:off x="521875" y="1090175"/>
            <a:ext cx="3404700" cy="25014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54"/>
          <p:cNvSpPr/>
          <p:nvPr/>
        </p:nvSpPr>
        <p:spPr>
          <a:xfrm>
            <a:off x="4921025" y="1090175"/>
            <a:ext cx="3642000" cy="36597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54"/>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PREPROCESSING</a:t>
            </a:r>
            <a:endParaRPr sz="5400"/>
          </a:p>
        </p:txBody>
      </p:sp>
      <p:sp>
        <p:nvSpPr>
          <p:cNvPr id="357" name="Google Shape;357;p54"/>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58" name="Google Shape;358;p54"/>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359" name="Google Shape;359;p54"/>
          <p:cNvSpPr txBox="1"/>
          <p:nvPr>
            <p:ph idx="1" type="subTitle"/>
          </p:nvPr>
        </p:nvSpPr>
        <p:spPr>
          <a:xfrm>
            <a:off x="593425" y="1361350"/>
            <a:ext cx="3261600" cy="21546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Both translator annotations collapsed into one by rounding down</a:t>
            </a:r>
            <a:br>
              <a:rPr lang="en"/>
            </a:br>
            <a:endParaRPr/>
          </a:p>
          <a:p>
            <a:pPr indent="-330200" lvl="0" marL="457200" rtl="0" algn="l">
              <a:lnSpc>
                <a:spcPct val="115000"/>
              </a:lnSpc>
              <a:spcBef>
                <a:spcPts val="0"/>
              </a:spcBef>
              <a:spcAft>
                <a:spcPts val="0"/>
              </a:spcAft>
              <a:buSzPts val="1600"/>
              <a:buChar char="●"/>
            </a:pPr>
            <a:r>
              <a:rPr lang="en"/>
              <a:t>Labels of subcategories collapsed into </a:t>
            </a:r>
            <a:r>
              <a:rPr lang="en"/>
              <a:t>one</a:t>
            </a:r>
            <a:br>
              <a:rPr lang="en"/>
            </a:br>
            <a:r>
              <a:rPr lang="en"/>
              <a:t>(A1, A2 → A, etc.)</a:t>
            </a:r>
            <a:endParaRPr/>
          </a:p>
          <a:p>
            <a:pPr indent="0" lvl="0" marL="914400" rtl="0" algn="l">
              <a:lnSpc>
                <a:spcPct val="115000"/>
              </a:lnSpc>
              <a:spcBef>
                <a:spcPts val="1200"/>
              </a:spcBef>
              <a:spcAft>
                <a:spcPts val="0"/>
              </a:spcAft>
              <a:buNone/>
            </a:pPr>
            <a:r>
              <a:t/>
            </a:r>
            <a:endParaRPr/>
          </a:p>
          <a:p>
            <a:pPr indent="0" lvl="0" marL="914400" rtl="0" algn="l">
              <a:lnSpc>
                <a:spcPct val="115000"/>
              </a:lnSpc>
              <a:spcBef>
                <a:spcPts val="1200"/>
              </a:spcBef>
              <a:spcAft>
                <a:spcPts val="1200"/>
              </a:spcAft>
              <a:buNone/>
            </a:pPr>
            <a:r>
              <a:t/>
            </a:r>
            <a:endParaRPr/>
          </a:p>
        </p:txBody>
      </p:sp>
      <p:sp>
        <p:nvSpPr>
          <p:cNvPr id="360" name="Google Shape;360;p54"/>
          <p:cNvSpPr txBox="1"/>
          <p:nvPr>
            <p:ph type="ctrTitle"/>
          </p:nvPr>
        </p:nvSpPr>
        <p:spPr>
          <a:xfrm>
            <a:off x="1121300" y="929950"/>
            <a:ext cx="1591500" cy="65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Github</a:t>
            </a:r>
            <a:endParaRPr sz="2400"/>
          </a:p>
        </p:txBody>
      </p:sp>
      <p:sp>
        <p:nvSpPr>
          <p:cNvPr id="361" name="Google Shape;361;p54"/>
          <p:cNvSpPr txBox="1"/>
          <p:nvPr>
            <p:ph type="ctrTitle"/>
          </p:nvPr>
        </p:nvSpPr>
        <p:spPr>
          <a:xfrm>
            <a:off x="5987975" y="929950"/>
            <a:ext cx="1591500" cy="65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Kaggle</a:t>
            </a:r>
            <a:endParaRPr sz="2400"/>
          </a:p>
        </p:txBody>
      </p:sp>
      <p:pic>
        <p:nvPicPr>
          <p:cNvPr id="362" name="Google Shape;362;p54" title="output-onlinepngtools (1).png"/>
          <p:cNvPicPr preferRelativeResize="0"/>
          <p:nvPr/>
        </p:nvPicPr>
        <p:blipFill>
          <a:blip r:embed="rId3">
            <a:alphaModFix/>
          </a:blip>
          <a:stretch>
            <a:fillRect/>
          </a:stretch>
        </p:blipFill>
        <p:spPr>
          <a:xfrm>
            <a:off x="648300" y="3729675"/>
            <a:ext cx="3151862" cy="856925"/>
          </a:xfrm>
          <a:prstGeom prst="rect">
            <a:avLst/>
          </a:prstGeom>
          <a:noFill/>
          <a:ln>
            <a:noFill/>
          </a:ln>
        </p:spPr>
      </p:pic>
      <p:sp>
        <p:nvSpPr>
          <p:cNvPr id="363" name="Google Shape;363;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54"/>
          <p:cNvSpPr txBox="1"/>
          <p:nvPr>
            <p:ph idx="1" type="subTitle"/>
          </p:nvPr>
        </p:nvSpPr>
        <p:spPr>
          <a:xfrm>
            <a:off x="4852475" y="1352225"/>
            <a:ext cx="3862500" cy="19773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Not all sentences in a paragraph correspond to its CEFR rating</a:t>
            </a:r>
            <a:br>
              <a:rPr lang="en"/>
            </a:br>
            <a:endParaRPr/>
          </a:p>
          <a:p>
            <a:pPr indent="-330200" lvl="1" marL="914400" rtl="0" algn="l">
              <a:lnSpc>
                <a:spcPct val="115000"/>
              </a:lnSpc>
              <a:spcBef>
                <a:spcPts val="0"/>
              </a:spcBef>
              <a:spcAft>
                <a:spcPts val="0"/>
              </a:spcAft>
              <a:buSzPts val="1600"/>
              <a:buChar char="○"/>
            </a:pPr>
            <a:r>
              <a:rPr lang="en" sz="1600"/>
              <a:t>Hardcoded rules - removing bad and redundant sentences</a:t>
            </a:r>
            <a:br>
              <a:rPr lang="en" sz="1600"/>
            </a:br>
            <a:endParaRPr sz="1600"/>
          </a:p>
          <a:p>
            <a:pPr indent="-330200" lvl="1" marL="914400" rtl="0" algn="l">
              <a:lnSpc>
                <a:spcPct val="115000"/>
              </a:lnSpc>
              <a:spcBef>
                <a:spcPts val="0"/>
              </a:spcBef>
              <a:spcAft>
                <a:spcPts val="0"/>
              </a:spcAft>
              <a:buSzPts val="1600"/>
              <a:buChar char="○"/>
            </a:pPr>
            <a:r>
              <a:rPr lang="en" sz="1600"/>
              <a:t>AI supervision rules - identifying C1/C2 sentences</a:t>
            </a:r>
            <a:br>
              <a:rPr lang="en" sz="1600"/>
            </a:br>
            <a:endParaRPr sz="1600"/>
          </a:p>
          <a:p>
            <a:pPr indent="-330200" lvl="1" marL="914400" rtl="0" algn="l">
              <a:lnSpc>
                <a:spcPct val="115000"/>
              </a:lnSpc>
              <a:spcBef>
                <a:spcPts val="0"/>
              </a:spcBef>
              <a:spcAft>
                <a:spcPts val="0"/>
              </a:spcAft>
              <a:buSzPts val="1600"/>
              <a:buChar char="○"/>
            </a:pPr>
            <a:r>
              <a:rPr lang="en" sz="1600"/>
              <a:t>Not added to testing split</a:t>
            </a:r>
            <a:endParaRPr sz="1600"/>
          </a:p>
          <a:p>
            <a:pPr indent="0" lvl="0" marL="914400" rtl="0" algn="l">
              <a:lnSpc>
                <a:spcPct val="115000"/>
              </a:lnSpc>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8" name="Shape 368"/>
        <p:cNvGrpSpPr/>
        <p:nvPr/>
      </p:nvGrpSpPr>
      <p:grpSpPr>
        <a:xfrm>
          <a:off x="0" y="0"/>
          <a:ext cx="0" cy="0"/>
          <a:chOff x="0" y="0"/>
          <a:chExt cx="0" cy="0"/>
        </a:xfrm>
      </p:grpSpPr>
      <p:sp>
        <p:nvSpPr>
          <p:cNvPr id="369" name="Google Shape;369;p55"/>
          <p:cNvSpPr/>
          <p:nvPr/>
        </p:nvSpPr>
        <p:spPr>
          <a:xfrm>
            <a:off x="4750650" y="1037575"/>
            <a:ext cx="4163700" cy="32166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55"/>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PREPROCESSING (manual)</a:t>
            </a:r>
            <a:endParaRPr sz="5400"/>
          </a:p>
        </p:txBody>
      </p:sp>
      <p:sp>
        <p:nvSpPr>
          <p:cNvPr id="371" name="Google Shape;371;p55"/>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72" name="Google Shape;372;p55"/>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373" name="Google Shape;373;p55"/>
          <p:cNvSpPr txBox="1"/>
          <p:nvPr>
            <p:ph idx="1" type="subTitle"/>
          </p:nvPr>
        </p:nvSpPr>
        <p:spPr>
          <a:xfrm>
            <a:off x="385075" y="1014625"/>
            <a:ext cx="4079100" cy="36765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Manual </a:t>
            </a:r>
            <a:r>
              <a:rPr lang="en"/>
              <a:t>observation revealed “junk sentence” patterns with no value</a:t>
            </a:r>
            <a:endParaRPr/>
          </a:p>
          <a:p>
            <a:pPr indent="0" lvl="0" marL="0" rtl="0" algn="l">
              <a:lnSpc>
                <a:spcPct val="115000"/>
              </a:lnSpc>
              <a:spcBef>
                <a:spcPts val="1200"/>
              </a:spcBef>
              <a:spcAft>
                <a:spcPts val="0"/>
              </a:spcAft>
              <a:buNone/>
            </a:pPr>
            <a:r>
              <a:t/>
            </a:r>
            <a:endParaRPr/>
          </a:p>
          <a:p>
            <a:pPr indent="-330200" lvl="0" marL="457200" rtl="0" algn="l">
              <a:lnSpc>
                <a:spcPct val="115000"/>
              </a:lnSpc>
              <a:spcBef>
                <a:spcPts val="1200"/>
              </a:spcBef>
              <a:spcAft>
                <a:spcPts val="0"/>
              </a:spcAft>
              <a:buSzPts val="1600"/>
              <a:buChar char="●"/>
            </a:pPr>
            <a:r>
              <a:rPr lang="en"/>
              <a:t>Hardcoded </a:t>
            </a:r>
            <a:r>
              <a:rPr b="1" lang="en"/>
              <a:t>RegEx</a:t>
            </a:r>
            <a:r>
              <a:rPr lang="en"/>
              <a:t> rules as initial cleaning layer</a:t>
            </a:r>
            <a:endParaRPr/>
          </a:p>
        </p:txBody>
      </p:sp>
      <p:sp>
        <p:nvSpPr>
          <p:cNvPr id="374" name="Google Shape;374;p55"/>
          <p:cNvSpPr txBox="1"/>
          <p:nvPr>
            <p:ph idx="1" type="subTitle"/>
          </p:nvPr>
        </p:nvSpPr>
        <p:spPr>
          <a:xfrm>
            <a:off x="5017700" y="1014625"/>
            <a:ext cx="3795300" cy="2848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t>D</a:t>
            </a:r>
            <a:r>
              <a:rPr b="1" lang="en"/>
              <a:t>elete sentence if …:</a:t>
            </a:r>
            <a:endParaRPr b="1"/>
          </a:p>
          <a:p>
            <a:pPr indent="-330200" lvl="0" marL="457200" rtl="0" algn="l">
              <a:lnSpc>
                <a:spcPct val="115000"/>
              </a:lnSpc>
              <a:spcBef>
                <a:spcPts val="1200"/>
              </a:spcBef>
              <a:spcAft>
                <a:spcPts val="0"/>
              </a:spcAft>
              <a:buSzPts val="1600"/>
              <a:buChar char="●"/>
            </a:pPr>
            <a:r>
              <a:rPr lang="en"/>
              <a:t>Length is less than 10 characters</a:t>
            </a:r>
            <a:endParaRPr/>
          </a:p>
          <a:p>
            <a:pPr indent="-330200" lvl="0" marL="457200" rtl="0" algn="l">
              <a:lnSpc>
                <a:spcPct val="115000"/>
              </a:lnSpc>
              <a:spcBef>
                <a:spcPts val="0"/>
              </a:spcBef>
              <a:spcAft>
                <a:spcPts val="0"/>
              </a:spcAft>
              <a:buSzPts val="1600"/>
              <a:buChar char="●"/>
            </a:pPr>
            <a:r>
              <a:rPr lang="en"/>
              <a:t>Consists solely of non-letter characters </a:t>
            </a:r>
            <a:endParaRPr/>
          </a:p>
          <a:p>
            <a:pPr indent="-330200" lvl="0" marL="457200" rtl="0" algn="l">
              <a:lnSpc>
                <a:spcPct val="115000"/>
              </a:lnSpc>
              <a:spcBef>
                <a:spcPts val="0"/>
              </a:spcBef>
              <a:spcAft>
                <a:spcPts val="0"/>
              </a:spcAft>
              <a:buSzPts val="1600"/>
              <a:buChar char="●"/>
            </a:pPr>
            <a:r>
              <a:rPr lang="en"/>
              <a:t>Contains phrases like "all rights reserved" or "e-mail to a friend."</a:t>
            </a:r>
            <a:endParaRPr/>
          </a:p>
          <a:p>
            <a:pPr indent="-330200" lvl="0" marL="457200" rtl="0" algn="l">
              <a:lnSpc>
                <a:spcPct val="115000"/>
              </a:lnSpc>
              <a:spcBef>
                <a:spcPts val="0"/>
              </a:spcBef>
              <a:spcAft>
                <a:spcPts val="0"/>
              </a:spcAft>
              <a:buSzPts val="1600"/>
              <a:buChar char="●"/>
            </a:pPr>
            <a:r>
              <a:rPr lang="en"/>
              <a:t>Contains patterns like "-[A-Z]{2,}-"</a:t>
            </a:r>
            <a:endParaRPr/>
          </a:p>
          <a:p>
            <a:pPr indent="0" lvl="0" marL="0" rtl="0" algn="l">
              <a:lnSpc>
                <a:spcPct val="115000"/>
              </a:lnSpc>
              <a:spcBef>
                <a:spcPts val="1200"/>
              </a:spcBef>
              <a:spcAft>
                <a:spcPts val="1200"/>
              </a:spcAft>
              <a:buNone/>
            </a:pPr>
            <a:r>
              <a:t/>
            </a:r>
            <a:endParaRPr b="1"/>
          </a:p>
        </p:txBody>
      </p:sp>
      <p:sp>
        <p:nvSpPr>
          <p:cNvPr id="375" name="Google Shape;375;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56"/>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PREPROCESSING (LLM)</a:t>
            </a:r>
            <a:endParaRPr sz="5400"/>
          </a:p>
        </p:txBody>
      </p:sp>
      <p:sp>
        <p:nvSpPr>
          <p:cNvPr id="381" name="Google Shape;381;p56"/>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82" name="Google Shape;382;p56"/>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383" name="Google Shape;383;p56"/>
          <p:cNvSpPr txBox="1"/>
          <p:nvPr>
            <p:ph idx="1" type="subTitle"/>
          </p:nvPr>
        </p:nvSpPr>
        <p:spPr>
          <a:xfrm>
            <a:off x="385075" y="1006125"/>
            <a:ext cx="4163700" cy="36765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Run sentences through </a:t>
            </a:r>
            <a:r>
              <a:rPr b="1" lang="en"/>
              <a:t>GPT-4.1-mini</a:t>
            </a:r>
            <a:r>
              <a:rPr lang="en"/>
              <a:t> as an extra layer of preprocessing</a:t>
            </a:r>
            <a:endParaRPr/>
          </a:p>
          <a:p>
            <a:pPr indent="0" lvl="0" marL="0" rtl="0" algn="l">
              <a:lnSpc>
                <a:spcPct val="115000"/>
              </a:lnSpc>
              <a:spcBef>
                <a:spcPts val="1200"/>
              </a:spcBef>
              <a:spcAft>
                <a:spcPts val="0"/>
              </a:spcAft>
              <a:buNone/>
            </a:pPr>
            <a:r>
              <a:t/>
            </a:r>
            <a:endParaRPr/>
          </a:p>
          <a:p>
            <a:pPr indent="-330200" lvl="0" marL="457200" rtl="0" algn="l">
              <a:lnSpc>
                <a:spcPct val="115000"/>
              </a:lnSpc>
              <a:spcBef>
                <a:spcPts val="1200"/>
              </a:spcBef>
              <a:spcAft>
                <a:spcPts val="0"/>
              </a:spcAft>
              <a:buSzPts val="1600"/>
              <a:buChar char="●"/>
            </a:pPr>
            <a:r>
              <a:rPr lang="en"/>
              <a:t>Add sentence if LLM assessment matches the label</a:t>
            </a:r>
            <a:endParaRPr/>
          </a:p>
        </p:txBody>
      </p:sp>
      <p:sp>
        <p:nvSpPr>
          <p:cNvPr id="384" name="Google Shape;384;p56"/>
          <p:cNvSpPr txBox="1"/>
          <p:nvPr>
            <p:ph idx="1" type="subTitle"/>
          </p:nvPr>
        </p:nvSpPr>
        <p:spPr>
          <a:xfrm>
            <a:off x="5069075" y="1014625"/>
            <a:ext cx="3744000" cy="3785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t>AI Prompt (zero shot):</a:t>
            </a:r>
            <a:endParaRPr b="1"/>
          </a:p>
          <a:p>
            <a:pPr indent="0" lvl="0" marL="0" rtl="0" algn="l">
              <a:lnSpc>
                <a:spcPct val="115000"/>
              </a:lnSpc>
              <a:spcBef>
                <a:spcPts val="1200"/>
              </a:spcBef>
              <a:spcAft>
                <a:spcPts val="0"/>
              </a:spcAft>
              <a:buNone/>
            </a:pPr>
            <a:r>
              <a:rPr lang="en"/>
              <a:t>“Classify the sentence as CEFR C2 (1) or not (0).</a:t>
            </a:r>
            <a:endParaRPr/>
          </a:p>
          <a:p>
            <a:pPr indent="0" lvl="0" marL="0" rtl="0" algn="l">
              <a:lnSpc>
                <a:spcPct val="115000"/>
              </a:lnSpc>
              <a:spcBef>
                <a:spcPts val="1200"/>
              </a:spcBef>
              <a:spcAft>
                <a:spcPts val="0"/>
              </a:spcAft>
              <a:buNone/>
            </a:pPr>
            <a:r>
              <a:rPr lang="en"/>
              <a:t>C2 = highest level of language proficiency. highly academic, abstract, and complex language.</a:t>
            </a:r>
            <a:endParaRPr/>
          </a:p>
          <a:p>
            <a:pPr indent="0" lvl="0" marL="0" rtl="0" algn="l">
              <a:lnSpc>
                <a:spcPct val="115000"/>
              </a:lnSpc>
              <a:spcBef>
                <a:spcPts val="1200"/>
              </a:spcBef>
              <a:spcAft>
                <a:spcPts val="0"/>
              </a:spcAft>
              <a:buNone/>
            </a:pPr>
            <a:r>
              <a:rPr lang="en"/>
              <a:t>Answer ONLY </a:t>
            </a:r>
            <a:r>
              <a:rPr lang="en"/>
              <a:t>with</a:t>
            </a:r>
            <a:r>
              <a:rPr lang="en"/>
              <a:t> 1 or 0.</a:t>
            </a:r>
            <a:endParaRPr/>
          </a:p>
          <a:p>
            <a:pPr indent="0" lvl="0" marL="0" rtl="0" algn="l">
              <a:lnSpc>
                <a:spcPct val="115000"/>
              </a:lnSpc>
              <a:spcBef>
                <a:spcPts val="1200"/>
              </a:spcBef>
              <a:spcAft>
                <a:spcPts val="0"/>
              </a:spcAft>
              <a:buNone/>
            </a:pPr>
            <a:r>
              <a:rPr lang="en"/>
              <a:t>Sentence:</a:t>
            </a:r>
            <a:endParaRPr/>
          </a:p>
          <a:p>
            <a:pPr indent="0" lvl="0" marL="0" rtl="0" algn="l">
              <a:lnSpc>
                <a:spcPct val="115000"/>
              </a:lnSpc>
              <a:spcBef>
                <a:spcPts val="1200"/>
              </a:spcBef>
              <a:spcAft>
                <a:spcPts val="1200"/>
              </a:spcAft>
              <a:buNone/>
            </a:pPr>
            <a:r>
              <a:rPr lang="en"/>
              <a:t>{sentence}”</a:t>
            </a:r>
            <a:endParaRPr/>
          </a:p>
        </p:txBody>
      </p:sp>
      <p:sp>
        <p:nvSpPr>
          <p:cNvPr id="385" name="Google Shape;385;p56"/>
          <p:cNvSpPr/>
          <p:nvPr/>
        </p:nvSpPr>
        <p:spPr>
          <a:xfrm>
            <a:off x="4750650" y="1037575"/>
            <a:ext cx="4163700" cy="36537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0" name="Shape 390"/>
        <p:cNvGrpSpPr/>
        <p:nvPr/>
      </p:nvGrpSpPr>
      <p:grpSpPr>
        <a:xfrm>
          <a:off x="0" y="0"/>
          <a:ext cx="0" cy="0"/>
          <a:chOff x="0" y="0"/>
          <a:chExt cx="0" cy="0"/>
        </a:xfrm>
      </p:grpSpPr>
      <p:sp>
        <p:nvSpPr>
          <p:cNvPr id="391" name="Google Shape;391;p57"/>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392" name="Google Shape;392;p57"/>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pic>
        <p:nvPicPr>
          <p:cNvPr id="393" name="Google Shape;393;p57" title="Chart"/>
          <p:cNvPicPr preferRelativeResize="0"/>
          <p:nvPr/>
        </p:nvPicPr>
        <p:blipFill>
          <a:blip r:embed="rId3">
            <a:alphaModFix/>
          </a:blip>
          <a:stretch>
            <a:fillRect/>
          </a:stretch>
        </p:blipFill>
        <p:spPr>
          <a:xfrm>
            <a:off x="997875" y="423250"/>
            <a:ext cx="7148274" cy="4132674"/>
          </a:xfrm>
          <a:prstGeom prst="rect">
            <a:avLst/>
          </a:prstGeom>
          <a:noFill/>
          <a:ln>
            <a:noFill/>
          </a:ln>
        </p:spPr>
      </p:pic>
      <p:sp>
        <p:nvSpPr>
          <p:cNvPr id="394" name="Google Shape;394;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8" name="Shape 398"/>
        <p:cNvGrpSpPr/>
        <p:nvPr/>
      </p:nvGrpSpPr>
      <p:grpSpPr>
        <a:xfrm>
          <a:off x="0" y="0"/>
          <a:ext cx="0" cy="0"/>
          <a:chOff x="0" y="0"/>
          <a:chExt cx="0" cy="0"/>
        </a:xfrm>
      </p:grpSpPr>
      <p:sp>
        <p:nvSpPr>
          <p:cNvPr id="399" name="Google Shape;399;p58"/>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00" name="Google Shape;400;p58"/>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pic>
        <p:nvPicPr>
          <p:cNvPr id="401" name="Google Shape;401;p58" title="Chart"/>
          <p:cNvPicPr preferRelativeResize="0"/>
          <p:nvPr/>
        </p:nvPicPr>
        <p:blipFill>
          <a:blip r:embed="rId3">
            <a:alphaModFix/>
          </a:blip>
          <a:stretch>
            <a:fillRect/>
          </a:stretch>
        </p:blipFill>
        <p:spPr>
          <a:xfrm>
            <a:off x="1279052" y="433574"/>
            <a:ext cx="6666951" cy="4122350"/>
          </a:xfrm>
          <a:prstGeom prst="rect">
            <a:avLst/>
          </a:prstGeom>
          <a:noFill/>
          <a:ln>
            <a:noFill/>
          </a:ln>
        </p:spPr>
      </p:pic>
      <p:sp>
        <p:nvSpPr>
          <p:cNvPr id="402" name="Google Shape;402;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6" name="Shape 406"/>
        <p:cNvGrpSpPr/>
        <p:nvPr/>
      </p:nvGrpSpPr>
      <p:grpSpPr>
        <a:xfrm>
          <a:off x="0" y="0"/>
          <a:ext cx="0" cy="0"/>
          <a:chOff x="0" y="0"/>
          <a:chExt cx="0" cy="0"/>
        </a:xfrm>
      </p:grpSpPr>
      <p:sp>
        <p:nvSpPr>
          <p:cNvPr id="407" name="Google Shape;407;p59"/>
          <p:cNvSpPr/>
          <p:nvPr/>
        </p:nvSpPr>
        <p:spPr>
          <a:xfrm>
            <a:off x="375150" y="1037575"/>
            <a:ext cx="2552700" cy="32208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59"/>
          <p:cNvSpPr/>
          <p:nvPr/>
        </p:nvSpPr>
        <p:spPr>
          <a:xfrm>
            <a:off x="3161250" y="1037575"/>
            <a:ext cx="2833800" cy="3616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59"/>
          <p:cNvSpPr/>
          <p:nvPr/>
        </p:nvSpPr>
        <p:spPr>
          <a:xfrm>
            <a:off x="6228450" y="1037575"/>
            <a:ext cx="2685900" cy="2689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59"/>
          <p:cNvSpPr txBox="1"/>
          <p:nvPr>
            <p:ph type="ctrTitle"/>
          </p:nvPr>
        </p:nvSpPr>
        <p:spPr>
          <a:xfrm>
            <a:off x="0" y="8477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Method</a:t>
            </a:r>
            <a:endParaRPr sz="5400"/>
          </a:p>
        </p:txBody>
      </p:sp>
      <p:sp>
        <p:nvSpPr>
          <p:cNvPr id="411" name="Google Shape;411;p59"/>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12" name="Google Shape;412;p59"/>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413" name="Google Shape;413;p59"/>
          <p:cNvSpPr txBox="1"/>
          <p:nvPr>
            <p:ph type="ctrTitle"/>
          </p:nvPr>
        </p:nvSpPr>
        <p:spPr>
          <a:xfrm>
            <a:off x="933525" y="898350"/>
            <a:ext cx="1591500" cy="65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Tasks</a:t>
            </a:r>
            <a:endParaRPr sz="2400"/>
          </a:p>
        </p:txBody>
      </p:sp>
      <p:sp>
        <p:nvSpPr>
          <p:cNvPr id="414" name="Google Shape;414;p59"/>
          <p:cNvSpPr txBox="1"/>
          <p:nvPr>
            <p:ph idx="1" type="subTitle"/>
          </p:nvPr>
        </p:nvSpPr>
        <p:spPr>
          <a:xfrm>
            <a:off x="375150" y="1537625"/>
            <a:ext cx="2612700" cy="19824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Train separate models on two tasks:</a:t>
            </a:r>
            <a:endParaRPr/>
          </a:p>
          <a:p>
            <a:pPr indent="0" lvl="0" marL="0" rtl="0" algn="l">
              <a:lnSpc>
                <a:spcPct val="115000"/>
              </a:lnSpc>
              <a:spcBef>
                <a:spcPts val="1200"/>
              </a:spcBef>
              <a:spcAft>
                <a:spcPts val="0"/>
              </a:spcAft>
              <a:buNone/>
            </a:pPr>
            <a:r>
              <a:t/>
            </a:r>
            <a:endParaRPr sz="600"/>
          </a:p>
          <a:p>
            <a:pPr indent="-330200" lvl="0" marL="457200" rtl="0" algn="l">
              <a:lnSpc>
                <a:spcPct val="115000"/>
              </a:lnSpc>
              <a:spcBef>
                <a:spcPts val="1200"/>
              </a:spcBef>
              <a:spcAft>
                <a:spcPts val="0"/>
              </a:spcAft>
              <a:buSzPts val="1600"/>
              <a:buChar char="●"/>
            </a:pPr>
            <a:r>
              <a:rPr lang="en"/>
              <a:t>3 class prediction </a:t>
            </a:r>
            <a:endParaRPr/>
          </a:p>
          <a:p>
            <a:pPr indent="-330200" lvl="1" marL="914400" rtl="0" algn="l">
              <a:lnSpc>
                <a:spcPct val="115000"/>
              </a:lnSpc>
              <a:spcBef>
                <a:spcPts val="0"/>
              </a:spcBef>
              <a:spcAft>
                <a:spcPts val="0"/>
              </a:spcAft>
              <a:buSzPts val="1600"/>
              <a:buChar char="○"/>
            </a:pPr>
            <a:r>
              <a:rPr lang="en" sz="1600"/>
              <a:t>(A, B, C)</a:t>
            </a:r>
            <a:br>
              <a:rPr lang="en" sz="1600"/>
            </a:br>
            <a:endParaRPr sz="1600"/>
          </a:p>
          <a:p>
            <a:pPr indent="-330200" lvl="0" marL="457200" rtl="0" algn="l">
              <a:lnSpc>
                <a:spcPct val="115000"/>
              </a:lnSpc>
              <a:spcBef>
                <a:spcPts val="0"/>
              </a:spcBef>
              <a:spcAft>
                <a:spcPts val="0"/>
              </a:spcAft>
              <a:buSzPts val="1600"/>
              <a:buChar char="●"/>
            </a:pPr>
            <a:r>
              <a:rPr lang="en"/>
              <a:t>6 class prediction </a:t>
            </a:r>
            <a:endParaRPr/>
          </a:p>
          <a:p>
            <a:pPr indent="-330200" lvl="1" marL="914400" rtl="0" algn="l">
              <a:lnSpc>
                <a:spcPct val="115000"/>
              </a:lnSpc>
              <a:spcBef>
                <a:spcPts val="0"/>
              </a:spcBef>
              <a:spcAft>
                <a:spcPts val="0"/>
              </a:spcAft>
              <a:buSzPts val="1600"/>
              <a:buChar char="○"/>
            </a:pPr>
            <a:r>
              <a:rPr lang="en" sz="1600"/>
              <a:t>(A1, A2, …, C2)</a:t>
            </a:r>
            <a:endParaRPr sz="1600"/>
          </a:p>
          <a:p>
            <a:pPr indent="0" lvl="0" marL="914400" rtl="0" algn="l">
              <a:lnSpc>
                <a:spcPct val="115000"/>
              </a:lnSpc>
              <a:spcBef>
                <a:spcPts val="1200"/>
              </a:spcBef>
              <a:spcAft>
                <a:spcPts val="1200"/>
              </a:spcAft>
              <a:buNone/>
            </a:pPr>
            <a:r>
              <a:t/>
            </a:r>
            <a:endParaRPr/>
          </a:p>
        </p:txBody>
      </p:sp>
      <p:sp>
        <p:nvSpPr>
          <p:cNvPr id="415" name="Google Shape;415;p59"/>
          <p:cNvSpPr txBox="1"/>
          <p:nvPr>
            <p:ph type="ctrTitle"/>
          </p:nvPr>
        </p:nvSpPr>
        <p:spPr>
          <a:xfrm>
            <a:off x="3788450" y="898350"/>
            <a:ext cx="1591500" cy="65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Models</a:t>
            </a:r>
            <a:endParaRPr sz="2400"/>
          </a:p>
        </p:txBody>
      </p:sp>
      <p:sp>
        <p:nvSpPr>
          <p:cNvPr id="416" name="Google Shape;416;p59"/>
          <p:cNvSpPr txBox="1"/>
          <p:nvPr>
            <p:ph idx="1" type="subTitle"/>
          </p:nvPr>
        </p:nvSpPr>
        <p:spPr>
          <a:xfrm>
            <a:off x="3173450" y="1537625"/>
            <a:ext cx="2821500" cy="2821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Random baselines</a:t>
            </a:r>
            <a:br>
              <a:rPr lang="en"/>
            </a:br>
            <a:endParaRPr/>
          </a:p>
          <a:p>
            <a:pPr indent="-330200" lvl="0" marL="457200" rtl="0" algn="l">
              <a:lnSpc>
                <a:spcPct val="115000"/>
              </a:lnSpc>
              <a:spcBef>
                <a:spcPts val="0"/>
              </a:spcBef>
              <a:spcAft>
                <a:spcPts val="0"/>
              </a:spcAft>
              <a:buSzPts val="1600"/>
              <a:buChar char="●"/>
            </a:pPr>
            <a:r>
              <a:rPr lang="en"/>
              <a:t>Simple baselines</a:t>
            </a:r>
            <a:endParaRPr/>
          </a:p>
          <a:p>
            <a:pPr indent="-330200" lvl="1" marL="914400" rtl="0" algn="l">
              <a:lnSpc>
                <a:spcPct val="115000"/>
              </a:lnSpc>
              <a:spcBef>
                <a:spcPts val="0"/>
              </a:spcBef>
              <a:spcAft>
                <a:spcPts val="0"/>
              </a:spcAft>
              <a:buSzPts val="1600"/>
              <a:buChar char="○"/>
            </a:pPr>
            <a:r>
              <a:rPr lang="en" sz="1600"/>
              <a:t>Type-Token Ratio</a:t>
            </a:r>
            <a:endParaRPr sz="1600"/>
          </a:p>
          <a:p>
            <a:pPr indent="-330200" lvl="1" marL="914400" rtl="0" algn="l">
              <a:lnSpc>
                <a:spcPct val="115000"/>
              </a:lnSpc>
              <a:spcBef>
                <a:spcPts val="0"/>
              </a:spcBef>
              <a:spcAft>
                <a:spcPts val="0"/>
              </a:spcAft>
              <a:buSzPts val="1600"/>
              <a:buChar char="○"/>
            </a:pPr>
            <a:r>
              <a:rPr lang="en" sz="1600"/>
              <a:t>Average Word Length</a:t>
            </a:r>
            <a:endParaRPr sz="1600"/>
          </a:p>
          <a:p>
            <a:pPr indent="-330200" lvl="1" marL="914400" rtl="0" algn="l">
              <a:lnSpc>
                <a:spcPct val="115000"/>
              </a:lnSpc>
              <a:spcBef>
                <a:spcPts val="0"/>
              </a:spcBef>
              <a:spcAft>
                <a:spcPts val="0"/>
              </a:spcAft>
              <a:buSzPts val="1600"/>
              <a:buChar char="○"/>
            </a:pPr>
            <a:r>
              <a:rPr lang="en" sz="1600"/>
              <a:t>Constituency </a:t>
            </a:r>
            <a:r>
              <a:rPr lang="en" sz="1600"/>
              <a:t>Parser</a:t>
            </a:r>
            <a:r>
              <a:rPr lang="en" sz="1600"/>
              <a:t> (BENEPAR)</a:t>
            </a:r>
            <a:br>
              <a:rPr lang="en" sz="1600"/>
            </a:br>
            <a:endParaRPr sz="1600"/>
          </a:p>
          <a:p>
            <a:pPr indent="-330200" lvl="0" marL="457200" rtl="0" algn="l">
              <a:lnSpc>
                <a:spcPct val="115000"/>
              </a:lnSpc>
              <a:spcBef>
                <a:spcPts val="0"/>
              </a:spcBef>
              <a:spcAft>
                <a:spcPts val="0"/>
              </a:spcAft>
              <a:buSzPts val="1600"/>
              <a:buChar char="●"/>
            </a:pPr>
            <a:r>
              <a:rPr lang="en"/>
              <a:t>BERT</a:t>
            </a:r>
            <a:endParaRPr/>
          </a:p>
          <a:p>
            <a:pPr indent="0" lvl="0" marL="457200" rtl="0" algn="l">
              <a:lnSpc>
                <a:spcPct val="115000"/>
              </a:lnSpc>
              <a:spcBef>
                <a:spcPts val="1200"/>
              </a:spcBef>
              <a:spcAft>
                <a:spcPts val="1200"/>
              </a:spcAft>
              <a:buNone/>
            </a:pPr>
            <a:r>
              <a:t/>
            </a:r>
            <a:endParaRPr/>
          </a:p>
        </p:txBody>
      </p:sp>
      <p:sp>
        <p:nvSpPr>
          <p:cNvPr id="417" name="Google Shape;417;p59"/>
          <p:cNvSpPr txBox="1"/>
          <p:nvPr>
            <p:ph type="ctrTitle"/>
          </p:nvPr>
        </p:nvSpPr>
        <p:spPr>
          <a:xfrm>
            <a:off x="6783350" y="898350"/>
            <a:ext cx="1591500" cy="65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Evaluation</a:t>
            </a:r>
            <a:endParaRPr sz="2400"/>
          </a:p>
        </p:txBody>
      </p:sp>
      <p:sp>
        <p:nvSpPr>
          <p:cNvPr id="418" name="Google Shape;418;p59"/>
          <p:cNvSpPr txBox="1"/>
          <p:nvPr>
            <p:ph idx="1" type="subTitle"/>
          </p:nvPr>
        </p:nvSpPr>
        <p:spPr>
          <a:xfrm>
            <a:off x="6168350" y="1537625"/>
            <a:ext cx="2821500" cy="20580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F1 Score across all models</a:t>
            </a:r>
            <a:br>
              <a:rPr lang="en"/>
            </a:br>
            <a:endParaRPr/>
          </a:p>
          <a:p>
            <a:pPr indent="-330200" lvl="0" marL="457200" rtl="0" algn="l">
              <a:lnSpc>
                <a:spcPct val="115000"/>
              </a:lnSpc>
              <a:spcBef>
                <a:spcPts val="0"/>
              </a:spcBef>
              <a:spcAft>
                <a:spcPts val="0"/>
              </a:spcAft>
              <a:buSzPts val="1600"/>
              <a:buChar char="●"/>
            </a:pPr>
            <a:r>
              <a:rPr lang="en"/>
              <a:t>Compare to previous literature</a:t>
            </a:r>
            <a:endParaRPr/>
          </a:p>
        </p:txBody>
      </p:sp>
      <p:sp>
        <p:nvSpPr>
          <p:cNvPr id="419" name="Google Shape;419;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3" name="Shape 423"/>
        <p:cNvGrpSpPr/>
        <p:nvPr/>
      </p:nvGrpSpPr>
      <p:grpSpPr>
        <a:xfrm>
          <a:off x="0" y="0"/>
          <a:ext cx="0" cy="0"/>
          <a:chOff x="0" y="0"/>
          <a:chExt cx="0" cy="0"/>
        </a:xfrm>
      </p:grpSpPr>
      <p:sp>
        <p:nvSpPr>
          <p:cNvPr id="424" name="Google Shape;424;p60"/>
          <p:cNvSpPr txBox="1"/>
          <p:nvPr>
            <p:ph type="ctrTitle"/>
          </p:nvPr>
        </p:nvSpPr>
        <p:spPr>
          <a:xfrm>
            <a:off x="0" y="1709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Initial baseline</a:t>
            </a:r>
            <a:endParaRPr sz="5400"/>
          </a:p>
        </p:txBody>
      </p:sp>
      <p:sp>
        <p:nvSpPr>
          <p:cNvPr id="425" name="Google Shape;425;p60"/>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26" name="Google Shape;426;p60"/>
          <p:cNvCxnSpPr/>
          <p:nvPr/>
        </p:nvCxnSpPr>
        <p:spPr>
          <a:xfrm flipH="1" rot="10800000">
            <a:off x="2885575" y="4851600"/>
            <a:ext cx="6756600" cy="8700"/>
          </a:xfrm>
          <a:prstGeom prst="straightConnector1">
            <a:avLst/>
          </a:prstGeom>
          <a:noFill/>
          <a:ln cap="flat" cmpd="sng" w="9525">
            <a:solidFill>
              <a:schemeClr val="dk1"/>
            </a:solidFill>
            <a:prstDash val="solid"/>
            <a:round/>
            <a:headEnd len="med" w="med" type="none"/>
            <a:tailEnd len="med" w="med" type="none"/>
          </a:ln>
        </p:spPr>
      </p:cxnSp>
      <p:pic>
        <p:nvPicPr>
          <p:cNvPr id="427" name="Google Shape;427;p60"/>
          <p:cNvPicPr preferRelativeResize="0"/>
          <p:nvPr/>
        </p:nvPicPr>
        <p:blipFill rotWithShape="1">
          <a:blip r:embed="rId3">
            <a:alphaModFix/>
          </a:blip>
          <a:srcRect b="3391" l="0" r="1855" t="0"/>
          <a:stretch/>
        </p:blipFill>
        <p:spPr>
          <a:xfrm>
            <a:off x="5189925" y="1175575"/>
            <a:ext cx="3309324" cy="3257600"/>
          </a:xfrm>
          <a:prstGeom prst="rect">
            <a:avLst/>
          </a:prstGeom>
          <a:noFill/>
          <a:ln>
            <a:noFill/>
          </a:ln>
        </p:spPr>
      </p:pic>
      <p:sp>
        <p:nvSpPr>
          <p:cNvPr id="428" name="Google Shape;428;p60"/>
          <p:cNvSpPr txBox="1"/>
          <p:nvPr>
            <p:ph idx="1" type="subTitle"/>
          </p:nvPr>
        </p:nvSpPr>
        <p:spPr>
          <a:xfrm>
            <a:off x="366525" y="1259000"/>
            <a:ext cx="4823400" cy="34176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None/>
            </a:pPr>
            <a:r>
              <a:t/>
            </a:r>
            <a:endParaRPr sz="1800"/>
          </a:p>
          <a:p>
            <a:pPr indent="-342900" lvl="0" marL="457200" rtl="0" algn="l">
              <a:lnSpc>
                <a:spcPct val="115000"/>
              </a:lnSpc>
              <a:spcBef>
                <a:spcPts val="1200"/>
              </a:spcBef>
              <a:spcAft>
                <a:spcPts val="0"/>
              </a:spcAft>
              <a:buSzPts val="1800"/>
              <a:buChar char="●"/>
            </a:pPr>
            <a:r>
              <a:rPr lang="en" sz="1800"/>
              <a:t>Weighted Random Guessing F1 Score: </a:t>
            </a:r>
            <a:r>
              <a:rPr b="1" lang="en" sz="1800"/>
              <a:t>0.3336 </a:t>
            </a:r>
            <a:r>
              <a:rPr lang="en" sz="1800"/>
              <a:t>for 3 class and </a:t>
            </a:r>
            <a:r>
              <a:rPr b="1" lang="en" sz="1800"/>
              <a:t>.1668</a:t>
            </a:r>
            <a:r>
              <a:rPr lang="en" sz="1800"/>
              <a:t> for 6-class</a:t>
            </a:r>
            <a:endParaRPr sz="1800"/>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1200"/>
              </a:spcAft>
              <a:buNone/>
            </a:pPr>
            <a:r>
              <a:t/>
            </a:r>
            <a:endParaRPr sz="1800"/>
          </a:p>
        </p:txBody>
      </p:sp>
      <p:sp>
        <p:nvSpPr>
          <p:cNvPr id="429" name="Google Shape;429;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3" name="Shape 433"/>
        <p:cNvGrpSpPr/>
        <p:nvPr/>
      </p:nvGrpSpPr>
      <p:grpSpPr>
        <a:xfrm>
          <a:off x="0" y="0"/>
          <a:ext cx="0" cy="0"/>
          <a:chOff x="0" y="0"/>
          <a:chExt cx="0" cy="0"/>
        </a:xfrm>
      </p:grpSpPr>
      <p:sp>
        <p:nvSpPr>
          <p:cNvPr id="434" name="Google Shape;434;p61"/>
          <p:cNvSpPr txBox="1"/>
          <p:nvPr>
            <p:ph type="ctrTitle"/>
          </p:nvPr>
        </p:nvSpPr>
        <p:spPr>
          <a:xfrm>
            <a:off x="0" y="1709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TTR</a:t>
            </a:r>
            <a:r>
              <a:rPr lang="en" sz="5400"/>
              <a:t> baseline</a:t>
            </a:r>
            <a:endParaRPr sz="5400"/>
          </a:p>
        </p:txBody>
      </p:sp>
      <p:sp>
        <p:nvSpPr>
          <p:cNvPr id="435" name="Google Shape;435;p61"/>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36" name="Google Shape;436;p61"/>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graphicFrame>
        <p:nvGraphicFramePr>
          <p:cNvPr id="437" name="Google Shape;437;p61"/>
          <p:cNvGraphicFramePr/>
          <p:nvPr/>
        </p:nvGraphicFramePr>
        <p:xfrm>
          <a:off x="1269075" y="3471350"/>
          <a:ext cx="3000000" cy="3000000"/>
        </p:xfrm>
        <a:graphic>
          <a:graphicData uri="http://schemas.openxmlformats.org/drawingml/2006/table">
            <a:tbl>
              <a:tblPr>
                <a:noFill/>
                <a:tableStyleId>{345A9BC6-8CD5-4C3E-ABC0-0DEC419FA553}</a:tableStyleId>
              </a:tblPr>
              <a:tblGrid>
                <a:gridCol w="1224775"/>
                <a:gridCol w="1009200"/>
                <a:gridCol w="1009200"/>
                <a:gridCol w="1009200"/>
                <a:gridCol w="1194075"/>
                <a:gridCol w="1159400"/>
              </a:tblGrid>
              <a:tr h="543525">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F1</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A</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B</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C</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Macro</a:t>
                      </a:r>
                      <a:endParaRPr b="1" sz="1600">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Weighted</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543525">
                <a:tc>
                  <a:txBody>
                    <a:bodyPr/>
                    <a:lstStyle/>
                    <a:p>
                      <a:pPr indent="0" lvl="0" marL="0" rtl="0" algn="ctr">
                        <a:spcBef>
                          <a:spcPts val="0"/>
                        </a:spcBef>
                        <a:spcAft>
                          <a:spcPts val="0"/>
                        </a:spcAft>
                        <a:buNone/>
                      </a:pPr>
                      <a:r>
                        <a:rPr b="1" lang="en" sz="1600">
                          <a:latin typeface="Albert Sans"/>
                          <a:ea typeface="Albert Sans"/>
                          <a:cs typeface="Albert Sans"/>
                          <a:sym typeface="Albert Sans"/>
                        </a:rPr>
                        <a:t>TTR</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0.67</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0.26</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0.51</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0.48</a:t>
                      </a:r>
                      <a:endParaRPr sz="1600">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0.49</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38" name="Google Shape;438;p61"/>
          <p:cNvSpPr txBox="1"/>
          <p:nvPr>
            <p:ph idx="1" type="subTitle"/>
          </p:nvPr>
        </p:nvSpPr>
        <p:spPr>
          <a:xfrm>
            <a:off x="163175" y="1138325"/>
            <a:ext cx="4823400" cy="20067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SzPts val="1800"/>
              <a:buChar char="●"/>
            </a:pPr>
            <a:r>
              <a:rPr lang="en" sz="1800"/>
              <a:t>Logistic Regression model trained on Type-Token Ratio</a:t>
            </a:r>
            <a:endParaRPr sz="1800"/>
          </a:p>
          <a:p>
            <a:pPr indent="-342900" lvl="0" marL="457200" rtl="0" algn="l">
              <a:lnSpc>
                <a:spcPct val="115000"/>
              </a:lnSpc>
              <a:spcBef>
                <a:spcPts val="0"/>
              </a:spcBef>
              <a:spcAft>
                <a:spcPts val="0"/>
              </a:spcAft>
              <a:buSzPts val="1800"/>
              <a:buChar char="●"/>
            </a:pPr>
            <a:r>
              <a:rPr lang="en" sz="1800"/>
              <a:t>Relevance</a:t>
            </a:r>
            <a:endParaRPr sz="1800"/>
          </a:p>
          <a:p>
            <a:pPr indent="-342900" lvl="1" marL="914400" rtl="0" algn="l">
              <a:lnSpc>
                <a:spcPct val="115000"/>
              </a:lnSpc>
              <a:spcBef>
                <a:spcPts val="0"/>
              </a:spcBef>
              <a:spcAft>
                <a:spcPts val="0"/>
              </a:spcAft>
              <a:buSzPts val="1800"/>
              <a:buChar char="○"/>
            </a:pPr>
            <a:r>
              <a:rPr lang="en"/>
              <a:t>Captures varied vocabulary and lexical richness</a:t>
            </a:r>
            <a:endParaRPr sz="1800"/>
          </a:p>
        </p:txBody>
      </p:sp>
      <p:sp>
        <p:nvSpPr>
          <p:cNvPr id="439" name="Google Shape;439;p61"/>
          <p:cNvSpPr txBox="1"/>
          <p:nvPr>
            <p:ph idx="1" type="subTitle"/>
          </p:nvPr>
        </p:nvSpPr>
        <p:spPr>
          <a:xfrm>
            <a:off x="4894375" y="1123725"/>
            <a:ext cx="4059600" cy="21057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SzPts val="1800"/>
              <a:buChar char="●"/>
            </a:pPr>
            <a:r>
              <a:rPr lang="en" sz="1800"/>
              <a:t>Limitations</a:t>
            </a:r>
            <a:endParaRPr/>
          </a:p>
          <a:p>
            <a:pPr indent="-342900" lvl="1" marL="914400" rtl="0" algn="l">
              <a:lnSpc>
                <a:spcPct val="115000"/>
              </a:lnSpc>
              <a:spcBef>
                <a:spcPts val="0"/>
              </a:spcBef>
              <a:spcAft>
                <a:spcPts val="0"/>
              </a:spcAft>
              <a:buSzPts val="1800"/>
              <a:buChar char="○"/>
            </a:pPr>
            <a:r>
              <a:rPr lang="en"/>
              <a:t>Unstable on short sentences</a:t>
            </a:r>
            <a:endParaRPr/>
          </a:p>
          <a:p>
            <a:pPr indent="-342900" lvl="1" marL="914400" rtl="0" algn="l">
              <a:lnSpc>
                <a:spcPct val="115000"/>
              </a:lnSpc>
              <a:spcBef>
                <a:spcPts val="0"/>
              </a:spcBef>
              <a:spcAft>
                <a:spcPts val="0"/>
              </a:spcAft>
              <a:buSzPts val="1800"/>
              <a:buChar char="○"/>
            </a:pPr>
            <a:r>
              <a:rPr lang="en"/>
              <a:t>Sentence-level makes this feature weaker</a:t>
            </a:r>
            <a:endParaRPr sz="1800"/>
          </a:p>
          <a:p>
            <a:pPr indent="0" lvl="0" marL="0" rtl="0" algn="l">
              <a:lnSpc>
                <a:spcPct val="115000"/>
              </a:lnSpc>
              <a:spcBef>
                <a:spcPts val="1200"/>
              </a:spcBef>
              <a:spcAft>
                <a:spcPts val="1200"/>
              </a:spcAft>
              <a:buNone/>
            </a:pPr>
            <a:r>
              <a:t/>
            </a:r>
            <a:endParaRPr sz="1800"/>
          </a:p>
        </p:txBody>
      </p:sp>
      <p:sp>
        <p:nvSpPr>
          <p:cNvPr id="440" name="Google Shape;440;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4" name="Shape 444"/>
        <p:cNvGrpSpPr/>
        <p:nvPr/>
      </p:nvGrpSpPr>
      <p:grpSpPr>
        <a:xfrm>
          <a:off x="0" y="0"/>
          <a:ext cx="0" cy="0"/>
          <a:chOff x="0" y="0"/>
          <a:chExt cx="0" cy="0"/>
        </a:xfrm>
      </p:grpSpPr>
      <p:graphicFrame>
        <p:nvGraphicFramePr>
          <p:cNvPr id="445" name="Google Shape;445;p62"/>
          <p:cNvGraphicFramePr/>
          <p:nvPr/>
        </p:nvGraphicFramePr>
        <p:xfrm>
          <a:off x="1269075" y="3468863"/>
          <a:ext cx="3000000" cy="3000000"/>
        </p:xfrm>
        <a:graphic>
          <a:graphicData uri="http://schemas.openxmlformats.org/drawingml/2006/table">
            <a:tbl>
              <a:tblPr>
                <a:noFill/>
                <a:tableStyleId>{345A9BC6-8CD5-4C3E-ABC0-0DEC419FA553}</a:tableStyleId>
              </a:tblPr>
              <a:tblGrid>
                <a:gridCol w="1605775"/>
                <a:gridCol w="882200"/>
                <a:gridCol w="882200"/>
                <a:gridCol w="882200"/>
                <a:gridCol w="1194075"/>
                <a:gridCol w="1159400"/>
              </a:tblGrid>
              <a:tr h="543525">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F1</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A</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B</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C</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Macro</a:t>
                      </a:r>
                      <a:endParaRPr b="1" sz="1600">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Weighted</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543525">
                <a:tc>
                  <a:txBody>
                    <a:bodyPr/>
                    <a:lstStyle/>
                    <a:p>
                      <a:pPr indent="0" lvl="0" marL="0" rtl="0" algn="ctr">
                        <a:spcBef>
                          <a:spcPts val="0"/>
                        </a:spcBef>
                        <a:spcAft>
                          <a:spcPts val="0"/>
                        </a:spcAft>
                        <a:buNone/>
                      </a:pPr>
                      <a:r>
                        <a:rPr b="1" lang="en" sz="1600">
                          <a:latin typeface="Albert Sans"/>
                          <a:ea typeface="Albert Sans"/>
                          <a:cs typeface="Albert Sans"/>
                          <a:sym typeface="Albert Sans"/>
                        </a:rPr>
                        <a:t>Word Length</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0.73</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0.44</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0.42</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0.53</a:t>
                      </a:r>
                      <a:endParaRPr sz="1600">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0.55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46" name="Google Shape;446;p62"/>
          <p:cNvSpPr txBox="1"/>
          <p:nvPr>
            <p:ph type="ctrTitle"/>
          </p:nvPr>
        </p:nvSpPr>
        <p:spPr>
          <a:xfrm>
            <a:off x="0" y="1709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WORD LENGTH</a:t>
            </a:r>
            <a:r>
              <a:rPr lang="en" sz="5400"/>
              <a:t> baseline</a:t>
            </a:r>
            <a:endParaRPr sz="5400"/>
          </a:p>
        </p:txBody>
      </p:sp>
      <p:sp>
        <p:nvSpPr>
          <p:cNvPr id="447" name="Google Shape;447;p62"/>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48" name="Google Shape;448;p62"/>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449" name="Google Shape;449;p62"/>
          <p:cNvSpPr txBox="1"/>
          <p:nvPr>
            <p:ph idx="1" type="subTitle"/>
          </p:nvPr>
        </p:nvSpPr>
        <p:spPr>
          <a:xfrm>
            <a:off x="163175" y="1138325"/>
            <a:ext cx="4823400" cy="1945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SzPts val="1800"/>
              <a:buChar char="●"/>
            </a:pPr>
            <a:r>
              <a:rPr lang="en" sz="1800"/>
              <a:t>Logistic Regression model trained on average number of characters per token</a:t>
            </a:r>
            <a:endParaRPr sz="1800"/>
          </a:p>
          <a:p>
            <a:pPr indent="-342900" lvl="0" marL="457200" rtl="0" algn="l">
              <a:lnSpc>
                <a:spcPct val="115000"/>
              </a:lnSpc>
              <a:spcBef>
                <a:spcPts val="0"/>
              </a:spcBef>
              <a:spcAft>
                <a:spcPts val="0"/>
              </a:spcAft>
              <a:buSzPts val="1800"/>
              <a:buChar char="●"/>
            </a:pPr>
            <a:r>
              <a:rPr lang="en" sz="1800"/>
              <a:t>Relevance</a:t>
            </a:r>
            <a:endParaRPr sz="1800"/>
          </a:p>
          <a:p>
            <a:pPr indent="-342900" lvl="1" marL="914400" rtl="0" algn="l">
              <a:lnSpc>
                <a:spcPct val="115000"/>
              </a:lnSpc>
              <a:spcBef>
                <a:spcPts val="0"/>
              </a:spcBef>
              <a:spcAft>
                <a:spcPts val="0"/>
              </a:spcAft>
              <a:buSzPts val="1800"/>
              <a:buChar char="○"/>
            </a:pPr>
            <a:r>
              <a:rPr lang="en"/>
              <a:t>Captures specialized vocabulary</a:t>
            </a:r>
            <a:endParaRPr sz="1800"/>
          </a:p>
        </p:txBody>
      </p:sp>
      <p:sp>
        <p:nvSpPr>
          <p:cNvPr id="450" name="Google Shape;450;p62"/>
          <p:cNvSpPr txBox="1"/>
          <p:nvPr>
            <p:ph idx="1" type="subTitle"/>
          </p:nvPr>
        </p:nvSpPr>
        <p:spPr>
          <a:xfrm>
            <a:off x="4825025" y="1123725"/>
            <a:ext cx="4144800" cy="23751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SzPts val="1800"/>
              <a:buChar char="●"/>
            </a:pPr>
            <a:r>
              <a:rPr lang="en" sz="1800"/>
              <a:t>Limitations</a:t>
            </a:r>
            <a:endParaRPr/>
          </a:p>
          <a:p>
            <a:pPr indent="-342900" lvl="1" marL="914400" rtl="0" algn="l">
              <a:lnSpc>
                <a:spcPct val="115000"/>
              </a:lnSpc>
              <a:spcBef>
                <a:spcPts val="0"/>
              </a:spcBef>
              <a:spcAft>
                <a:spcPts val="0"/>
              </a:spcAft>
              <a:buSzPts val="1800"/>
              <a:buChar char="○"/>
            </a:pPr>
            <a:r>
              <a:rPr lang="en"/>
              <a:t>Long words ≠ difficult</a:t>
            </a:r>
            <a:endParaRPr/>
          </a:p>
          <a:p>
            <a:pPr indent="-342900" lvl="1" marL="914400" rtl="0" algn="l">
              <a:lnSpc>
                <a:spcPct val="115000"/>
              </a:lnSpc>
              <a:spcBef>
                <a:spcPts val="0"/>
              </a:spcBef>
              <a:spcAft>
                <a:spcPts val="0"/>
              </a:spcAft>
              <a:buSzPts val="1800"/>
              <a:buChar char="○"/>
            </a:pPr>
            <a:r>
              <a:rPr lang="en"/>
              <a:t>Short words ≠ simple syntax</a:t>
            </a:r>
            <a:endParaRPr/>
          </a:p>
          <a:p>
            <a:pPr indent="-342900" lvl="1" marL="914400" rtl="0" algn="l">
              <a:lnSpc>
                <a:spcPct val="115000"/>
              </a:lnSpc>
              <a:spcBef>
                <a:spcPts val="0"/>
              </a:spcBef>
              <a:spcAft>
                <a:spcPts val="0"/>
              </a:spcAft>
              <a:buSzPts val="1800"/>
              <a:buChar char="○"/>
            </a:pPr>
            <a:r>
              <a:rPr lang="en"/>
              <a:t>Ignores grammar</a:t>
            </a:r>
            <a:endParaRPr sz="1800"/>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1200"/>
              </a:spcAft>
              <a:buNone/>
            </a:pPr>
            <a:r>
              <a:t/>
            </a:r>
            <a:endParaRPr sz="1800"/>
          </a:p>
        </p:txBody>
      </p:sp>
      <p:sp>
        <p:nvSpPr>
          <p:cNvPr id="451" name="Google Shape;451;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graphicFrame>
        <p:nvGraphicFramePr>
          <p:cNvPr id="456" name="Google Shape;456;p63"/>
          <p:cNvGraphicFramePr/>
          <p:nvPr/>
        </p:nvGraphicFramePr>
        <p:xfrm>
          <a:off x="1269075" y="3468863"/>
          <a:ext cx="3000000" cy="3000000"/>
        </p:xfrm>
        <a:graphic>
          <a:graphicData uri="http://schemas.openxmlformats.org/drawingml/2006/table">
            <a:tbl>
              <a:tblPr>
                <a:noFill/>
                <a:tableStyleId>{345A9BC6-8CD5-4C3E-ABC0-0DEC419FA553}</a:tableStyleId>
              </a:tblPr>
              <a:tblGrid>
                <a:gridCol w="1605775"/>
                <a:gridCol w="882200"/>
                <a:gridCol w="882200"/>
                <a:gridCol w="882200"/>
                <a:gridCol w="1194075"/>
                <a:gridCol w="1159400"/>
              </a:tblGrid>
              <a:tr h="543525">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F1</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A</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B</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C</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Macro</a:t>
                      </a:r>
                      <a:endParaRPr b="1"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Weighted</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543525">
                <a:tc>
                  <a:txBody>
                    <a:bodyPr/>
                    <a:lstStyle/>
                    <a:p>
                      <a:pPr indent="0" lvl="0" marL="0" rtl="0" algn="ctr">
                        <a:spcBef>
                          <a:spcPts val="0"/>
                        </a:spcBef>
                        <a:spcAft>
                          <a:spcPts val="0"/>
                        </a:spcAft>
                        <a:buNone/>
                      </a:pPr>
                      <a:r>
                        <a:rPr b="1" lang="en" sz="1600">
                          <a:latin typeface="Albert Sans"/>
                          <a:ea typeface="Albert Sans"/>
                          <a:cs typeface="Albert Sans"/>
                          <a:sym typeface="Albert Sans"/>
                        </a:rPr>
                        <a:t>Parsers</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0.85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0.65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0.68</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0.73</a:t>
                      </a:r>
                      <a:endParaRPr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0.74</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57" name="Google Shape;457;p63"/>
          <p:cNvSpPr txBox="1"/>
          <p:nvPr>
            <p:ph type="ctrTitle"/>
          </p:nvPr>
        </p:nvSpPr>
        <p:spPr>
          <a:xfrm>
            <a:off x="0" y="1709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Constituency PARSER </a:t>
            </a:r>
            <a:r>
              <a:rPr lang="en" sz="5400"/>
              <a:t>baseline</a:t>
            </a:r>
            <a:endParaRPr sz="5400"/>
          </a:p>
        </p:txBody>
      </p:sp>
      <p:sp>
        <p:nvSpPr>
          <p:cNvPr id="458" name="Google Shape;458;p63"/>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59" name="Google Shape;459;p63"/>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460" name="Google Shape;460;p63"/>
          <p:cNvSpPr txBox="1"/>
          <p:nvPr>
            <p:ph idx="1" type="subTitle"/>
          </p:nvPr>
        </p:nvSpPr>
        <p:spPr>
          <a:xfrm>
            <a:off x="170775" y="858489"/>
            <a:ext cx="4823400" cy="21393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SzPts val="1500"/>
              <a:buChar char="●"/>
            </a:pPr>
            <a:r>
              <a:rPr lang="en" sz="1500"/>
              <a:t>Logistic Regression: Constituency Parse Features</a:t>
            </a:r>
            <a:endParaRPr sz="1500"/>
          </a:p>
          <a:p>
            <a:pPr indent="-323850" lvl="1" marL="914400" rtl="0" algn="l">
              <a:lnSpc>
                <a:spcPct val="115000"/>
              </a:lnSpc>
              <a:spcBef>
                <a:spcPts val="0"/>
              </a:spcBef>
              <a:spcAft>
                <a:spcPts val="0"/>
              </a:spcAft>
              <a:buSzPts val="1500"/>
              <a:buChar char="○"/>
            </a:pPr>
            <a:r>
              <a:rPr lang="en" sz="1500"/>
              <a:t>Tree is created through Benepar, run through the spaCy pipeline</a:t>
            </a:r>
            <a:endParaRPr sz="1500"/>
          </a:p>
          <a:p>
            <a:pPr indent="-323850" lvl="1" marL="914400" rtl="0" algn="l">
              <a:lnSpc>
                <a:spcPct val="115000"/>
              </a:lnSpc>
              <a:spcBef>
                <a:spcPts val="0"/>
              </a:spcBef>
              <a:spcAft>
                <a:spcPts val="0"/>
              </a:spcAft>
              <a:buSzPts val="1500"/>
              <a:buChar char="○"/>
            </a:pPr>
            <a:r>
              <a:rPr lang="en" sz="1500"/>
              <a:t>Each sentence → Parse Tree → features</a:t>
            </a:r>
            <a:endParaRPr sz="1500"/>
          </a:p>
          <a:p>
            <a:pPr indent="-317500" lvl="0" marL="457200" rtl="0" algn="l">
              <a:lnSpc>
                <a:spcPct val="115000"/>
              </a:lnSpc>
              <a:spcBef>
                <a:spcPts val="0"/>
              </a:spcBef>
              <a:spcAft>
                <a:spcPts val="0"/>
              </a:spcAft>
              <a:buSzPts val="1400"/>
              <a:buChar char="●"/>
            </a:pPr>
            <a:r>
              <a:rPr b="1" lang="en" sz="1500"/>
              <a:t>Features:</a:t>
            </a:r>
            <a:r>
              <a:rPr lang="en" sz="1500"/>
              <a:t> </a:t>
            </a:r>
            <a:r>
              <a:rPr lang="en" sz="1400"/>
              <a:t>Tree height, sbar_count, avg_phrase_len, clause_count, np_count, coord_count, subordination_ratio, avg_token_depth, avg_np_len, ttr, avg_word_len</a:t>
            </a:r>
            <a:endParaRPr sz="1400"/>
          </a:p>
        </p:txBody>
      </p:sp>
      <p:sp>
        <p:nvSpPr>
          <p:cNvPr id="461" name="Google Shape;461;p63"/>
          <p:cNvSpPr txBox="1"/>
          <p:nvPr>
            <p:ph idx="1" type="subTitle"/>
          </p:nvPr>
        </p:nvSpPr>
        <p:spPr>
          <a:xfrm>
            <a:off x="4832600" y="865574"/>
            <a:ext cx="4144800" cy="27267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a:t>Relevance</a:t>
            </a:r>
            <a:endParaRPr/>
          </a:p>
          <a:p>
            <a:pPr indent="-330200" lvl="1" marL="914400" rtl="0" algn="l">
              <a:lnSpc>
                <a:spcPct val="115000"/>
              </a:lnSpc>
              <a:spcBef>
                <a:spcPts val="0"/>
              </a:spcBef>
              <a:spcAft>
                <a:spcPts val="0"/>
              </a:spcAft>
              <a:buSzPts val="1600"/>
              <a:buChar char="○"/>
            </a:pPr>
            <a:r>
              <a:rPr lang="en" sz="1600"/>
              <a:t>Captures syntactic complexity</a:t>
            </a:r>
            <a:endParaRPr sz="1600"/>
          </a:p>
          <a:p>
            <a:pPr indent="-330200" lvl="1" marL="914400" rtl="0" algn="l">
              <a:lnSpc>
                <a:spcPct val="115000"/>
              </a:lnSpc>
              <a:spcBef>
                <a:spcPts val="0"/>
              </a:spcBef>
              <a:spcAft>
                <a:spcPts val="0"/>
              </a:spcAft>
              <a:buSzPts val="1600"/>
              <a:buChar char="○"/>
            </a:pPr>
            <a:r>
              <a:rPr lang="en" sz="1600"/>
              <a:t>Sensitive to sentence organization</a:t>
            </a:r>
            <a:endParaRPr sz="1600"/>
          </a:p>
          <a:p>
            <a:pPr indent="-330200" lvl="0" marL="457200" rtl="0" algn="l">
              <a:lnSpc>
                <a:spcPct val="115000"/>
              </a:lnSpc>
              <a:spcBef>
                <a:spcPts val="0"/>
              </a:spcBef>
              <a:spcAft>
                <a:spcPts val="0"/>
              </a:spcAft>
              <a:buSzPts val="1600"/>
              <a:buChar char="●"/>
            </a:pPr>
            <a:r>
              <a:rPr lang="en"/>
              <a:t>Limitations</a:t>
            </a:r>
            <a:endParaRPr/>
          </a:p>
          <a:p>
            <a:pPr indent="-330200" lvl="1" marL="914400" rtl="0" algn="l">
              <a:lnSpc>
                <a:spcPct val="115000"/>
              </a:lnSpc>
              <a:spcBef>
                <a:spcPts val="0"/>
              </a:spcBef>
              <a:spcAft>
                <a:spcPts val="0"/>
              </a:spcAft>
              <a:buSzPts val="1600"/>
              <a:buChar char="○"/>
            </a:pPr>
            <a:r>
              <a:rPr lang="en" sz="1600"/>
              <a:t>Parsing errors become features</a:t>
            </a:r>
            <a:endParaRPr sz="1600"/>
          </a:p>
          <a:p>
            <a:pPr indent="-330200" lvl="1" marL="914400" rtl="0" algn="l">
              <a:lnSpc>
                <a:spcPct val="115000"/>
              </a:lnSpc>
              <a:spcBef>
                <a:spcPts val="0"/>
              </a:spcBef>
              <a:spcAft>
                <a:spcPts val="0"/>
              </a:spcAft>
              <a:buSzPts val="1600"/>
              <a:buChar char="○"/>
            </a:pPr>
            <a:r>
              <a:rPr lang="en" sz="1600"/>
              <a:t>Limited semantic understanding</a:t>
            </a:r>
            <a:endParaRPr sz="1600"/>
          </a:p>
          <a:p>
            <a:pPr indent="-330200" lvl="1" marL="914400" rtl="0" algn="l">
              <a:lnSpc>
                <a:spcPct val="115000"/>
              </a:lnSpc>
              <a:spcBef>
                <a:spcPts val="0"/>
              </a:spcBef>
              <a:spcAft>
                <a:spcPts val="0"/>
              </a:spcAft>
              <a:buSzPts val="1600"/>
              <a:buChar char="○"/>
            </a:pPr>
            <a:r>
              <a:rPr lang="en" sz="1600"/>
              <a:t>Unstable on short sentences</a:t>
            </a:r>
            <a:endParaRPr sz="1600"/>
          </a:p>
        </p:txBody>
      </p:sp>
      <p:sp>
        <p:nvSpPr>
          <p:cNvPr id="462" name="Google Shape;462;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6" name="Shape 466"/>
        <p:cNvGrpSpPr/>
        <p:nvPr/>
      </p:nvGrpSpPr>
      <p:grpSpPr>
        <a:xfrm>
          <a:off x="0" y="0"/>
          <a:ext cx="0" cy="0"/>
          <a:chOff x="0" y="0"/>
          <a:chExt cx="0" cy="0"/>
        </a:xfrm>
      </p:grpSpPr>
      <p:sp>
        <p:nvSpPr>
          <p:cNvPr id="467" name="Google Shape;467;p64"/>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BASELINES - 3 classes</a:t>
            </a:r>
            <a:endParaRPr sz="5400"/>
          </a:p>
        </p:txBody>
      </p:sp>
      <p:sp>
        <p:nvSpPr>
          <p:cNvPr id="468" name="Google Shape;468;p64"/>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69" name="Google Shape;469;p64"/>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graphicFrame>
        <p:nvGraphicFramePr>
          <p:cNvPr id="470" name="Google Shape;470;p64"/>
          <p:cNvGraphicFramePr/>
          <p:nvPr/>
        </p:nvGraphicFramePr>
        <p:xfrm>
          <a:off x="1280550" y="1200825"/>
          <a:ext cx="3000000" cy="3000000"/>
        </p:xfrm>
        <a:graphic>
          <a:graphicData uri="http://schemas.openxmlformats.org/drawingml/2006/table">
            <a:tbl>
              <a:tblPr>
                <a:noFill/>
                <a:tableStyleId>{345A9BC6-8CD5-4C3E-ABC0-0DEC419FA553}</a:tableStyleId>
              </a:tblPr>
              <a:tblGrid>
                <a:gridCol w="1605775"/>
                <a:gridCol w="882200"/>
                <a:gridCol w="882200"/>
                <a:gridCol w="882200"/>
                <a:gridCol w="1194075"/>
                <a:gridCol w="1159400"/>
              </a:tblGrid>
              <a:tr h="543525">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F1 Scores</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A</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B</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C</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Macro</a:t>
                      </a:r>
                      <a:endParaRPr b="1"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Weighted</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543525">
                <a:tc>
                  <a:txBody>
                    <a:bodyPr/>
                    <a:lstStyle/>
                    <a:p>
                      <a:pPr indent="0" lvl="0" marL="0" rtl="0" algn="l">
                        <a:spcBef>
                          <a:spcPts val="0"/>
                        </a:spcBef>
                        <a:spcAft>
                          <a:spcPts val="0"/>
                        </a:spcAft>
                        <a:buNone/>
                      </a:pPr>
                      <a:r>
                        <a:rPr b="1" lang="en" sz="1600">
                          <a:latin typeface="Albert Sans"/>
                          <a:ea typeface="Albert Sans"/>
                          <a:cs typeface="Albert Sans"/>
                          <a:sym typeface="Albert Sans"/>
                        </a:rPr>
                        <a:t>Random</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0.33</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0.33</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0.33</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0.33</a:t>
                      </a:r>
                      <a:endParaRPr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0.33</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525">
                <a:tc>
                  <a:txBody>
                    <a:bodyPr/>
                    <a:lstStyle/>
                    <a:p>
                      <a:pPr indent="0" lvl="0" marL="0" rtl="0" algn="l">
                        <a:spcBef>
                          <a:spcPts val="0"/>
                        </a:spcBef>
                        <a:spcAft>
                          <a:spcPts val="0"/>
                        </a:spcAft>
                        <a:buNone/>
                      </a:pPr>
                      <a:r>
                        <a:rPr b="1" lang="en" sz="1600">
                          <a:latin typeface="Albert Sans"/>
                          <a:ea typeface="Albert Sans"/>
                          <a:cs typeface="Albert Sans"/>
                          <a:sym typeface="Albert Sans"/>
                        </a:rPr>
                        <a:t>TTR</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.67</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.26</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.51</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.48</a:t>
                      </a:r>
                      <a:endParaRPr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.49</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525">
                <a:tc>
                  <a:txBody>
                    <a:bodyPr/>
                    <a:lstStyle/>
                    <a:p>
                      <a:pPr indent="0" lvl="0" marL="0" rtl="0" algn="l">
                        <a:spcBef>
                          <a:spcPts val="0"/>
                        </a:spcBef>
                        <a:spcAft>
                          <a:spcPts val="0"/>
                        </a:spcAft>
                        <a:buNone/>
                      </a:pPr>
                      <a:r>
                        <a:rPr b="1" lang="en" sz="1600">
                          <a:latin typeface="Albert Sans"/>
                          <a:ea typeface="Albert Sans"/>
                          <a:cs typeface="Albert Sans"/>
                          <a:sym typeface="Albert Sans"/>
                        </a:rPr>
                        <a:t>Word Length</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.73</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.44</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.42</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.53</a:t>
                      </a:r>
                      <a:endParaRPr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0</a:t>
                      </a:r>
                      <a:r>
                        <a:rPr lang="en" sz="1600">
                          <a:solidFill>
                            <a:schemeClr val="dk1"/>
                          </a:solidFill>
                          <a:latin typeface="Albert Sans"/>
                          <a:ea typeface="Albert Sans"/>
                          <a:cs typeface="Albert Sans"/>
                          <a:sym typeface="Albert Sans"/>
                        </a:rPr>
                        <a:t>.55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525">
                <a:tc>
                  <a:txBody>
                    <a:bodyPr/>
                    <a:lstStyle/>
                    <a:p>
                      <a:pPr indent="0" lvl="0" marL="0" rtl="0" algn="l">
                        <a:spcBef>
                          <a:spcPts val="0"/>
                        </a:spcBef>
                        <a:spcAft>
                          <a:spcPts val="0"/>
                        </a:spcAft>
                        <a:buNone/>
                      </a:pPr>
                      <a:r>
                        <a:rPr b="1" lang="en" sz="1600">
                          <a:latin typeface="Albert Sans"/>
                          <a:ea typeface="Albert Sans"/>
                          <a:cs typeface="Albert Sans"/>
                          <a:sym typeface="Albert Sans"/>
                        </a:rPr>
                        <a:t>Parsers</a:t>
                      </a:r>
                      <a:endParaRPr b="1" sz="1600">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0</a:t>
                      </a:r>
                      <a:r>
                        <a:rPr b="1" lang="en" sz="1600">
                          <a:solidFill>
                            <a:schemeClr val="dk1"/>
                          </a:solidFill>
                          <a:latin typeface="Albert Sans"/>
                          <a:ea typeface="Albert Sans"/>
                          <a:cs typeface="Albert Sans"/>
                          <a:sym typeface="Albert Sans"/>
                        </a:rPr>
                        <a:t>.85</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0</a:t>
                      </a:r>
                      <a:r>
                        <a:rPr b="1" lang="en" sz="1600">
                          <a:solidFill>
                            <a:schemeClr val="dk1"/>
                          </a:solidFill>
                          <a:latin typeface="Albert Sans"/>
                          <a:ea typeface="Albert Sans"/>
                          <a:cs typeface="Albert Sans"/>
                          <a:sym typeface="Albert Sans"/>
                        </a:rPr>
                        <a:t>.65</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0</a:t>
                      </a:r>
                      <a:r>
                        <a:rPr b="1" lang="en" sz="1600">
                          <a:solidFill>
                            <a:schemeClr val="dk1"/>
                          </a:solidFill>
                          <a:latin typeface="Albert Sans"/>
                          <a:ea typeface="Albert Sans"/>
                          <a:cs typeface="Albert Sans"/>
                          <a:sym typeface="Albert Sans"/>
                        </a:rPr>
                        <a:t>.68</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0</a:t>
                      </a:r>
                      <a:r>
                        <a:rPr b="1" lang="en" sz="1600">
                          <a:solidFill>
                            <a:schemeClr val="dk1"/>
                          </a:solidFill>
                          <a:latin typeface="Albert Sans"/>
                          <a:ea typeface="Albert Sans"/>
                          <a:cs typeface="Albert Sans"/>
                          <a:sym typeface="Albert Sans"/>
                        </a:rPr>
                        <a:t>.73</a:t>
                      </a:r>
                      <a:endParaRPr b="1" sz="1600">
                        <a:solidFill>
                          <a:schemeClr val="dk1"/>
                        </a:solidFill>
                        <a:latin typeface="Albert Sans"/>
                        <a:ea typeface="Albert Sans"/>
                        <a:cs typeface="Albert Sans"/>
                        <a:sym typeface="Albert Sans"/>
                      </a:endParaRPr>
                    </a:p>
                  </a:txBody>
                  <a:tcPr marT="91425" marB="91425" marR="91425" marL="91425" anchor="ctr">
                    <a:lnL cap="flat" cmpd="sng" w="190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Albert Sans"/>
                          <a:ea typeface="Albert Sans"/>
                          <a:cs typeface="Albert Sans"/>
                          <a:sym typeface="Albert Sans"/>
                        </a:rPr>
                        <a:t>0</a:t>
                      </a:r>
                      <a:r>
                        <a:rPr b="1" lang="en" sz="1600">
                          <a:solidFill>
                            <a:schemeClr val="dk1"/>
                          </a:solidFill>
                          <a:latin typeface="Albert Sans"/>
                          <a:ea typeface="Albert Sans"/>
                          <a:cs typeface="Albert Sans"/>
                          <a:sym typeface="Albert Sans"/>
                        </a:rPr>
                        <a:t>.74</a:t>
                      </a:r>
                      <a:endParaRPr b="1" sz="16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71" name="Google Shape;471;p64"/>
          <p:cNvSpPr txBox="1"/>
          <p:nvPr>
            <p:ph idx="1" type="subTitle"/>
          </p:nvPr>
        </p:nvSpPr>
        <p:spPr>
          <a:xfrm>
            <a:off x="2620875" y="3847325"/>
            <a:ext cx="3925200" cy="7086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lang="en" sz="1200"/>
              <a:t>F1 scores across </a:t>
            </a:r>
            <a:r>
              <a:rPr i="1" lang="en" sz="1200"/>
              <a:t>simplified</a:t>
            </a:r>
            <a:r>
              <a:rPr lang="en" sz="1200"/>
              <a:t> baseline experiments </a:t>
            </a:r>
            <a:endParaRPr sz="1200"/>
          </a:p>
        </p:txBody>
      </p:sp>
      <p:sp>
        <p:nvSpPr>
          <p:cNvPr id="472" name="Google Shape;472;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6" name="Shape 476"/>
        <p:cNvGrpSpPr/>
        <p:nvPr/>
      </p:nvGrpSpPr>
      <p:grpSpPr>
        <a:xfrm>
          <a:off x="0" y="0"/>
          <a:ext cx="0" cy="0"/>
          <a:chOff x="0" y="0"/>
          <a:chExt cx="0" cy="0"/>
        </a:xfrm>
      </p:grpSpPr>
      <p:sp>
        <p:nvSpPr>
          <p:cNvPr id="477" name="Google Shape;477;p65"/>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BASELINES - 6 classes</a:t>
            </a:r>
            <a:endParaRPr sz="5400"/>
          </a:p>
        </p:txBody>
      </p:sp>
      <p:sp>
        <p:nvSpPr>
          <p:cNvPr id="478" name="Google Shape;478;p65"/>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479" name="Google Shape;479;p65"/>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graphicFrame>
        <p:nvGraphicFramePr>
          <p:cNvPr id="480" name="Google Shape;480;p65"/>
          <p:cNvGraphicFramePr/>
          <p:nvPr/>
        </p:nvGraphicFramePr>
        <p:xfrm>
          <a:off x="422550" y="1457650"/>
          <a:ext cx="3000000" cy="3000000"/>
        </p:xfrm>
        <a:graphic>
          <a:graphicData uri="http://schemas.openxmlformats.org/drawingml/2006/table">
            <a:tbl>
              <a:tblPr>
                <a:noFill/>
                <a:tableStyleId>{345A9BC6-8CD5-4C3E-ABC0-0DEC419FA553}</a:tableStyleId>
              </a:tblPr>
              <a:tblGrid>
                <a:gridCol w="1403750"/>
                <a:gridCol w="771200"/>
                <a:gridCol w="771200"/>
                <a:gridCol w="771200"/>
                <a:gridCol w="771200"/>
                <a:gridCol w="771200"/>
                <a:gridCol w="771200"/>
                <a:gridCol w="1043850"/>
                <a:gridCol w="1013550"/>
              </a:tblGrid>
              <a:tr h="392375">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F1 Scores</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A1</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A2</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B1</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B2</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C1</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C2</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Macro</a:t>
                      </a:r>
                      <a:endParaRPr b="1">
                        <a:solidFill>
                          <a:schemeClr val="dk1"/>
                        </a:solidFill>
                        <a:latin typeface="Albert Sans"/>
                        <a:ea typeface="Albert Sans"/>
                        <a:cs typeface="Albert Sans"/>
                        <a:sym typeface="Albert Sans"/>
                      </a:endParaRPr>
                    </a:p>
                  </a:txBody>
                  <a:tcPr marT="91425" marB="91425" marR="91425" marL="91425">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Weighted</a:t>
                      </a:r>
                      <a:endParaRPr b="1">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484225">
                <a:tc>
                  <a:txBody>
                    <a:bodyPr/>
                    <a:lstStyle/>
                    <a:p>
                      <a:pPr indent="0" lvl="0" marL="0" rtl="0" algn="l">
                        <a:spcBef>
                          <a:spcPts val="0"/>
                        </a:spcBef>
                        <a:spcAft>
                          <a:spcPts val="0"/>
                        </a:spcAft>
                        <a:buNone/>
                      </a:pPr>
                      <a:r>
                        <a:rPr b="1" lang="en">
                          <a:latin typeface="Albert Sans"/>
                          <a:ea typeface="Albert Sans"/>
                          <a:cs typeface="Albert Sans"/>
                          <a:sym typeface="Albert Sans"/>
                        </a:rPr>
                        <a:t>Random</a:t>
                      </a:r>
                      <a:endParaRPr b="1">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0.16</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4225">
                <a:tc>
                  <a:txBody>
                    <a:bodyPr/>
                    <a:lstStyle/>
                    <a:p>
                      <a:pPr indent="0" lvl="0" marL="0" rtl="0" algn="l">
                        <a:spcBef>
                          <a:spcPts val="0"/>
                        </a:spcBef>
                        <a:spcAft>
                          <a:spcPts val="0"/>
                        </a:spcAft>
                        <a:buNone/>
                      </a:pPr>
                      <a:r>
                        <a:rPr b="1" lang="en">
                          <a:latin typeface="Albert Sans"/>
                          <a:ea typeface="Albert Sans"/>
                          <a:cs typeface="Albert Sans"/>
                          <a:sym typeface="Albert Sans"/>
                        </a:rPr>
                        <a:t>TTR</a:t>
                      </a:r>
                      <a:endParaRPr b="1">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r>
                        <a:rPr lang="en">
                          <a:solidFill>
                            <a:schemeClr val="dk1"/>
                          </a:solidFill>
                          <a:latin typeface="Albert Sans"/>
                          <a:ea typeface="Albert Sans"/>
                          <a:cs typeface="Albert Sans"/>
                          <a:sym typeface="Albert Sans"/>
                        </a:rPr>
                        <a:t>.57</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r>
                        <a:rPr lang="en">
                          <a:solidFill>
                            <a:schemeClr val="dk1"/>
                          </a:solidFill>
                          <a:latin typeface="Albert Sans"/>
                          <a:ea typeface="Albert Sans"/>
                          <a:cs typeface="Albert Sans"/>
                          <a:sym typeface="Albert Sans"/>
                        </a:rPr>
                        <a:t>.41</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r>
                        <a:rPr lang="en">
                          <a:solidFill>
                            <a:schemeClr val="dk1"/>
                          </a:solidFill>
                          <a:latin typeface="Albert Sans"/>
                          <a:ea typeface="Albert Sans"/>
                          <a:cs typeface="Albert Sans"/>
                          <a:sym typeface="Albert Sans"/>
                        </a:rPr>
                        <a:t>.53</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r>
                        <a:rPr lang="en">
                          <a:solidFill>
                            <a:schemeClr val="dk1"/>
                          </a:solidFill>
                          <a:latin typeface="Albert Sans"/>
                          <a:ea typeface="Albert Sans"/>
                          <a:cs typeface="Albert Sans"/>
                          <a:sym typeface="Albert Sans"/>
                        </a:rPr>
                        <a:t>.18</a:t>
                      </a:r>
                      <a:endParaRPr>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r>
                        <a:rPr lang="en">
                          <a:solidFill>
                            <a:schemeClr val="dk1"/>
                          </a:solidFill>
                          <a:latin typeface="Albert Sans"/>
                          <a:ea typeface="Albert Sans"/>
                          <a:cs typeface="Albert Sans"/>
                          <a:sym typeface="Albert Sans"/>
                        </a:rPr>
                        <a:t>.28</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4225">
                <a:tc>
                  <a:txBody>
                    <a:bodyPr/>
                    <a:lstStyle/>
                    <a:p>
                      <a:pPr indent="0" lvl="0" marL="0" rtl="0" algn="l">
                        <a:spcBef>
                          <a:spcPts val="0"/>
                        </a:spcBef>
                        <a:spcAft>
                          <a:spcPts val="0"/>
                        </a:spcAft>
                        <a:buNone/>
                      </a:pPr>
                      <a:r>
                        <a:rPr b="1" lang="en">
                          <a:latin typeface="Albert Sans"/>
                          <a:ea typeface="Albert Sans"/>
                          <a:cs typeface="Albert Sans"/>
                          <a:sym typeface="Albert Sans"/>
                        </a:rPr>
                        <a:t>Word Length</a:t>
                      </a:r>
                      <a:endParaRPr b="1">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0.69</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0.33</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0.03</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0.49</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0.21</a:t>
                      </a:r>
                      <a:endParaRPr>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0.30</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4225">
                <a:tc>
                  <a:txBody>
                    <a:bodyPr/>
                    <a:lstStyle/>
                    <a:p>
                      <a:pPr indent="0" lvl="0" marL="0" rtl="0" algn="l">
                        <a:spcBef>
                          <a:spcPts val="0"/>
                        </a:spcBef>
                        <a:spcAft>
                          <a:spcPts val="0"/>
                        </a:spcAft>
                        <a:buNone/>
                      </a:pPr>
                      <a:r>
                        <a:rPr b="1" lang="en">
                          <a:latin typeface="Albert Sans"/>
                          <a:ea typeface="Albert Sans"/>
                          <a:cs typeface="Albert Sans"/>
                          <a:sym typeface="Albert Sans"/>
                        </a:rPr>
                        <a:t>Parsers</a:t>
                      </a:r>
                      <a:endParaRPr b="1">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0.78</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0.18</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0.48</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0.21</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0.02</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0.66</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0.39</a:t>
                      </a:r>
                      <a:endParaRPr b="1">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0.51</a:t>
                      </a:r>
                      <a:endParaRPr b="1">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81" name="Google Shape;481;p65"/>
          <p:cNvSpPr txBox="1"/>
          <p:nvPr>
            <p:ph idx="1" type="subTitle"/>
          </p:nvPr>
        </p:nvSpPr>
        <p:spPr>
          <a:xfrm>
            <a:off x="2609400" y="3695775"/>
            <a:ext cx="3925200" cy="7086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lang="en" sz="1200"/>
              <a:t>F1 scores across baseline experiments </a:t>
            </a:r>
            <a:endParaRPr sz="1200"/>
          </a:p>
        </p:txBody>
      </p:sp>
      <p:sp>
        <p:nvSpPr>
          <p:cNvPr id="482" name="Google Shape;482;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6" name="Shape 486"/>
        <p:cNvGrpSpPr/>
        <p:nvPr/>
      </p:nvGrpSpPr>
      <p:grpSpPr>
        <a:xfrm>
          <a:off x="0" y="0"/>
          <a:ext cx="0" cy="0"/>
          <a:chOff x="0" y="0"/>
          <a:chExt cx="0" cy="0"/>
        </a:xfrm>
      </p:grpSpPr>
      <p:pic>
        <p:nvPicPr>
          <p:cNvPr id="487" name="Google Shape;487;p66" title="techstartup-osc.jpg"/>
          <p:cNvPicPr preferRelativeResize="0"/>
          <p:nvPr/>
        </p:nvPicPr>
        <p:blipFill rotWithShape="1">
          <a:blip r:embed="rId3">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grpSp>
        <p:nvGrpSpPr>
          <p:cNvPr id="488" name="Google Shape;488;p66"/>
          <p:cNvGrpSpPr/>
          <p:nvPr/>
        </p:nvGrpSpPr>
        <p:grpSpPr>
          <a:xfrm>
            <a:off x="380994" y="1095750"/>
            <a:ext cx="8517941" cy="3372224"/>
            <a:chOff x="381000" y="1333500"/>
            <a:chExt cx="8382150" cy="2857575"/>
          </a:xfrm>
        </p:grpSpPr>
        <p:sp>
          <p:nvSpPr>
            <p:cNvPr id="489" name="Google Shape;489;p66"/>
            <p:cNvSpPr/>
            <p:nvPr/>
          </p:nvSpPr>
          <p:spPr>
            <a:xfrm>
              <a:off x="381000" y="1333500"/>
              <a:ext cx="2724300" cy="1381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66"/>
            <p:cNvSpPr txBox="1"/>
            <p:nvPr/>
          </p:nvSpPr>
          <p:spPr>
            <a:xfrm>
              <a:off x="381000" y="1333500"/>
              <a:ext cx="2724300" cy="13812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600">
                  <a:solidFill>
                    <a:srgbClr val="FFFFFF"/>
                  </a:solidFill>
                  <a:latin typeface="Albert Sans"/>
                  <a:ea typeface="Albert Sans"/>
                  <a:cs typeface="Albert Sans"/>
                  <a:sym typeface="Albert Sans"/>
                </a:rPr>
                <a:t>Contextual understanding</a:t>
              </a:r>
              <a:endParaRPr b="1" sz="1600">
                <a:solidFill>
                  <a:srgbClr val="FFFFFF"/>
                </a:solidFill>
                <a:latin typeface="Albert Sans"/>
                <a:ea typeface="Albert Sans"/>
                <a:cs typeface="Albert Sans"/>
                <a:sym typeface="Albert Sans"/>
              </a:endParaRPr>
            </a:p>
            <a:p>
              <a:pPr indent="0" lvl="0" marL="0" rtl="0" algn="l">
                <a:spcBef>
                  <a:spcPts val="600"/>
                </a:spcBef>
                <a:spcAft>
                  <a:spcPts val="0"/>
                </a:spcAft>
                <a:buNone/>
              </a:pPr>
              <a:r>
                <a:rPr b="0" lang="en" sz="1300">
                  <a:solidFill>
                    <a:srgbClr val="CBD5E1"/>
                  </a:solidFill>
                  <a:latin typeface="Albert Sans"/>
                  <a:ea typeface="Albert Sans"/>
                  <a:cs typeface="Albert Sans"/>
                  <a:sym typeface="Albert Sans"/>
                </a:rPr>
                <a:t>Captures meaning based on surrounding words (not just isolated features)</a:t>
              </a:r>
              <a:endParaRPr b="0" sz="1300">
                <a:solidFill>
                  <a:srgbClr val="CBD5E1"/>
                </a:solidFill>
                <a:latin typeface="Albert Sans"/>
                <a:ea typeface="Albert Sans"/>
                <a:cs typeface="Albert Sans"/>
                <a:sym typeface="Albert Sans"/>
              </a:endParaRPr>
            </a:p>
          </p:txBody>
        </p:sp>
        <p:sp>
          <p:nvSpPr>
            <p:cNvPr id="491" name="Google Shape;491;p66"/>
            <p:cNvSpPr/>
            <p:nvPr/>
          </p:nvSpPr>
          <p:spPr>
            <a:xfrm>
              <a:off x="3209925" y="1333500"/>
              <a:ext cx="2724300" cy="1381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66"/>
            <p:cNvSpPr txBox="1"/>
            <p:nvPr/>
          </p:nvSpPr>
          <p:spPr>
            <a:xfrm>
              <a:off x="3209925" y="1333503"/>
              <a:ext cx="2724300" cy="13812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600">
                  <a:solidFill>
                    <a:srgbClr val="FFFFFF"/>
                  </a:solidFill>
                  <a:latin typeface="Albert Sans"/>
                  <a:ea typeface="Albert Sans"/>
                  <a:cs typeface="Albert Sans"/>
                  <a:sym typeface="Albert Sans"/>
                </a:rPr>
                <a:t>Detects subtle differences</a:t>
              </a:r>
              <a:endParaRPr b="1" sz="1600">
                <a:solidFill>
                  <a:srgbClr val="FFFFFF"/>
                </a:solidFill>
                <a:latin typeface="Albert Sans"/>
                <a:ea typeface="Albert Sans"/>
                <a:cs typeface="Albert Sans"/>
                <a:sym typeface="Albert Sans"/>
              </a:endParaRPr>
            </a:p>
            <a:p>
              <a:pPr indent="0" lvl="0" marL="0" rtl="0" algn="l">
                <a:spcBef>
                  <a:spcPts val="600"/>
                </a:spcBef>
                <a:spcAft>
                  <a:spcPts val="0"/>
                </a:spcAft>
                <a:buNone/>
              </a:pPr>
              <a:r>
                <a:rPr b="0" lang="en" sz="1300">
                  <a:solidFill>
                    <a:srgbClr val="CBD5E1"/>
                  </a:solidFill>
                  <a:latin typeface="Albert Sans"/>
                  <a:ea typeface="Albert Sans"/>
                  <a:cs typeface="Albert Sans"/>
                  <a:sym typeface="Albert Sans"/>
                </a:rPr>
                <a:t>Distinguishes small complexity changes between levels (e.g., B1 vs B2)</a:t>
              </a:r>
              <a:endParaRPr b="0" sz="1300">
                <a:solidFill>
                  <a:srgbClr val="CBD5E1"/>
                </a:solidFill>
                <a:latin typeface="Albert Sans"/>
                <a:ea typeface="Albert Sans"/>
                <a:cs typeface="Albert Sans"/>
                <a:sym typeface="Albert Sans"/>
              </a:endParaRPr>
            </a:p>
          </p:txBody>
        </p:sp>
        <p:sp>
          <p:nvSpPr>
            <p:cNvPr id="493" name="Google Shape;493;p66"/>
            <p:cNvSpPr/>
            <p:nvPr/>
          </p:nvSpPr>
          <p:spPr>
            <a:xfrm>
              <a:off x="6038850" y="1333500"/>
              <a:ext cx="2724300" cy="1381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66"/>
            <p:cNvSpPr txBox="1"/>
            <p:nvPr/>
          </p:nvSpPr>
          <p:spPr>
            <a:xfrm>
              <a:off x="6038850" y="1333500"/>
              <a:ext cx="2724300" cy="13812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600">
                  <a:solidFill>
                    <a:srgbClr val="FFFFFF"/>
                  </a:solidFill>
                  <a:latin typeface="Albert Sans"/>
                  <a:ea typeface="Albert Sans"/>
                  <a:cs typeface="Albert Sans"/>
                  <a:sym typeface="Albert Sans"/>
                </a:rPr>
                <a:t>Pretrained knowledge</a:t>
              </a:r>
              <a:endParaRPr b="1" sz="1600">
                <a:solidFill>
                  <a:srgbClr val="FFFFFF"/>
                </a:solidFill>
                <a:latin typeface="Albert Sans"/>
                <a:ea typeface="Albert Sans"/>
                <a:cs typeface="Albert Sans"/>
                <a:sym typeface="Albert Sans"/>
              </a:endParaRPr>
            </a:p>
            <a:p>
              <a:pPr indent="0" lvl="0" marL="0" rtl="0" algn="l">
                <a:spcBef>
                  <a:spcPts val="600"/>
                </a:spcBef>
                <a:spcAft>
                  <a:spcPts val="0"/>
                </a:spcAft>
                <a:buNone/>
              </a:pPr>
              <a:r>
                <a:rPr b="0" lang="en" sz="1300">
                  <a:solidFill>
                    <a:srgbClr val="CBD5E1"/>
                  </a:solidFill>
                  <a:latin typeface="Albert Sans"/>
                  <a:ea typeface="Albert Sans"/>
                  <a:cs typeface="Albert Sans"/>
                  <a:sym typeface="Albert Sans"/>
                </a:rPr>
                <a:t>Leverages large-scale language learning → strong performance with limited data</a:t>
              </a:r>
              <a:endParaRPr b="0" sz="1300">
                <a:solidFill>
                  <a:srgbClr val="CBD5E1"/>
                </a:solidFill>
                <a:latin typeface="Albert Sans"/>
                <a:ea typeface="Albert Sans"/>
                <a:cs typeface="Albert Sans"/>
                <a:sym typeface="Albert Sans"/>
              </a:endParaRPr>
            </a:p>
          </p:txBody>
        </p:sp>
        <p:sp>
          <p:nvSpPr>
            <p:cNvPr id="495" name="Google Shape;495;p66"/>
            <p:cNvSpPr/>
            <p:nvPr/>
          </p:nvSpPr>
          <p:spPr>
            <a:xfrm>
              <a:off x="381000" y="2809875"/>
              <a:ext cx="4143300" cy="1381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66"/>
            <p:cNvSpPr txBox="1"/>
            <p:nvPr/>
          </p:nvSpPr>
          <p:spPr>
            <a:xfrm>
              <a:off x="381000" y="2809875"/>
              <a:ext cx="4143300" cy="13812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600">
                  <a:solidFill>
                    <a:srgbClr val="FFFFFF"/>
                  </a:solidFill>
                  <a:latin typeface="Albert Sans"/>
                  <a:ea typeface="Albert Sans"/>
                  <a:cs typeface="Albert Sans"/>
                  <a:sym typeface="Albert Sans"/>
                </a:rPr>
                <a:t>Well-suited for sentence classification</a:t>
              </a:r>
              <a:endParaRPr b="1" sz="1600">
                <a:solidFill>
                  <a:srgbClr val="FFFFFF"/>
                </a:solidFill>
                <a:latin typeface="Albert Sans"/>
                <a:ea typeface="Albert Sans"/>
                <a:cs typeface="Albert Sans"/>
                <a:sym typeface="Albert Sans"/>
              </a:endParaRPr>
            </a:p>
            <a:p>
              <a:pPr indent="0" lvl="0" marL="0" rtl="0" algn="l">
                <a:spcBef>
                  <a:spcPts val="600"/>
                </a:spcBef>
                <a:spcAft>
                  <a:spcPts val="0"/>
                </a:spcAft>
                <a:buNone/>
              </a:pPr>
              <a:r>
                <a:rPr b="0" lang="en" sz="1300">
                  <a:solidFill>
                    <a:srgbClr val="CBD5E1"/>
                  </a:solidFill>
                  <a:latin typeface="Albert Sans"/>
                  <a:ea typeface="Albert Sans"/>
                  <a:cs typeface="Albert Sans"/>
                  <a:sym typeface="Albert Sans"/>
                </a:rPr>
                <a:t>Designed for tasks like labeling text sequences</a:t>
              </a:r>
              <a:endParaRPr b="0" sz="1300">
                <a:solidFill>
                  <a:srgbClr val="CBD5E1"/>
                </a:solidFill>
                <a:latin typeface="Albert Sans"/>
                <a:ea typeface="Albert Sans"/>
                <a:cs typeface="Albert Sans"/>
                <a:sym typeface="Albert Sans"/>
              </a:endParaRPr>
            </a:p>
          </p:txBody>
        </p:sp>
        <p:sp>
          <p:nvSpPr>
            <p:cNvPr id="497" name="Google Shape;497;p66"/>
            <p:cNvSpPr/>
            <p:nvPr/>
          </p:nvSpPr>
          <p:spPr>
            <a:xfrm>
              <a:off x="4619625" y="2809875"/>
              <a:ext cx="4143300" cy="1381200"/>
            </a:xfrm>
            <a:prstGeom prst="roundRect">
              <a:avLst>
                <a:gd fmla="val 5517"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66"/>
            <p:cNvSpPr txBox="1"/>
            <p:nvPr/>
          </p:nvSpPr>
          <p:spPr>
            <a:xfrm>
              <a:off x="4619625" y="2809875"/>
              <a:ext cx="4143300" cy="13812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600">
                  <a:solidFill>
                    <a:srgbClr val="FFFFFF"/>
                  </a:solidFill>
                  <a:latin typeface="Albert Sans"/>
                  <a:ea typeface="Albert Sans"/>
                  <a:cs typeface="Albert Sans"/>
                  <a:sym typeface="Albert Sans"/>
                </a:rPr>
                <a:t>Better generalization</a:t>
              </a:r>
              <a:endParaRPr b="1" sz="1600">
                <a:solidFill>
                  <a:srgbClr val="FFFFFF"/>
                </a:solidFill>
                <a:latin typeface="Albert Sans"/>
                <a:ea typeface="Albert Sans"/>
                <a:cs typeface="Albert Sans"/>
                <a:sym typeface="Albert Sans"/>
              </a:endParaRPr>
            </a:p>
            <a:p>
              <a:pPr indent="0" lvl="0" marL="0" rtl="0" algn="l">
                <a:spcBef>
                  <a:spcPts val="600"/>
                </a:spcBef>
                <a:spcAft>
                  <a:spcPts val="0"/>
                </a:spcAft>
                <a:buNone/>
              </a:pPr>
              <a:r>
                <a:rPr b="0" lang="en" sz="1300">
                  <a:solidFill>
                    <a:srgbClr val="CBD5E1"/>
                  </a:solidFill>
                  <a:latin typeface="Albert Sans"/>
                  <a:ea typeface="Albert Sans"/>
                  <a:cs typeface="Albert Sans"/>
                  <a:sym typeface="Albert Sans"/>
                </a:rPr>
                <a:t>Works effectively with class imbalance when combined with tuning methods</a:t>
              </a:r>
              <a:endParaRPr b="0" sz="1300">
                <a:solidFill>
                  <a:srgbClr val="CBD5E1"/>
                </a:solidFill>
                <a:latin typeface="Albert Sans"/>
                <a:ea typeface="Albert Sans"/>
                <a:cs typeface="Albert Sans"/>
                <a:sym typeface="Albert Sans"/>
              </a:endParaRPr>
            </a:p>
          </p:txBody>
        </p:sp>
      </p:grpSp>
      <p:sp>
        <p:nvSpPr>
          <p:cNvPr id="499" name="Google Shape;499;p66"/>
          <p:cNvSpPr txBox="1"/>
          <p:nvPr>
            <p:ph type="ctrTitle"/>
          </p:nvPr>
        </p:nvSpPr>
        <p:spPr>
          <a:xfrm>
            <a:off x="75" y="1429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Experiments - WHY bert?</a:t>
            </a:r>
            <a:endParaRPr sz="5400"/>
          </a:p>
        </p:txBody>
      </p:sp>
      <p:sp>
        <p:nvSpPr>
          <p:cNvPr id="500" name="Google Shape;500;p66"/>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01" name="Google Shape;501;p66"/>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02" name="Google Shape;502;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6" name="Shape 506"/>
        <p:cNvGrpSpPr/>
        <p:nvPr/>
      </p:nvGrpSpPr>
      <p:grpSpPr>
        <a:xfrm>
          <a:off x="0" y="0"/>
          <a:ext cx="0" cy="0"/>
          <a:chOff x="0" y="0"/>
          <a:chExt cx="0" cy="0"/>
        </a:xfrm>
      </p:grpSpPr>
      <p:sp>
        <p:nvSpPr>
          <p:cNvPr id="507" name="Google Shape;507;p67"/>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BERT - Results</a:t>
            </a:r>
            <a:endParaRPr sz="5400"/>
          </a:p>
        </p:txBody>
      </p:sp>
      <p:sp>
        <p:nvSpPr>
          <p:cNvPr id="508" name="Google Shape;508;p67"/>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09" name="Google Shape;509;p67"/>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10" name="Google Shape;510;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511" name="Google Shape;511;p67"/>
          <p:cNvGraphicFramePr/>
          <p:nvPr/>
        </p:nvGraphicFramePr>
        <p:xfrm>
          <a:off x="432613" y="2630763"/>
          <a:ext cx="3000000" cy="3000000"/>
        </p:xfrm>
        <a:graphic>
          <a:graphicData uri="http://schemas.openxmlformats.org/drawingml/2006/table">
            <a:tbl>
              <a:tblPr>
                <a:noFill/>
                <a:tableStyleId>{345A9BC6-8CD5-4C3E-ABC0-0DEC419FA553}</a:tableStyleId>
              </a:tblPr>
              <a:tblGrid>
                <a:gridCol w="719950"/>
                <a:gridCol w="531775"/>
                <a:gridCol w="590325"/>
                <a:gridCol w="640350"/>
                <a:gridCol w="831125"/>
                <a:gridCol w="1101800"/>
              </a:tblGrid>
              <a:tr h="335100">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Class</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A</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B</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C</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Macro</a:t>
                      </a:r>
                      <a:endParaRPr b="1" sz="1500">
                        <a:solidFill>
                          <a:schemeClr val="dk1"/>
                        </a:solidFill>
                        <a:latin typeface="Albert Sans"/>
                        <a:ea typeface="Albert Sans"/>
                        <a:cs typeface="Albert Sans"/>
                        <a:sym typeface="Albert Sans"/>
                      </a:endParaRPr>
                    </a:p>
                  </a:txBody>
                  <a:tcPr marT="91425" marB="91425" marR="91425" marL="91425">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Weighted</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335100">
                <a:tc>
                  <a:txBody>
                    <a:bodyPr/>
                    <a:lstStyle/>
                    <a:p>
                      <a:pPr indent="0" lvl="0" marL="0" rtl="0" algn="l">
                        <a:spcBef>
                          <a:spcPts val="0"/>
                        </a:spcBef>
                        <a:spcAft>
                          <a:spcPts val="0"/>
                        </a:spcAft>
                        <a:buNone/>
                      </a:pPr>
                      <a:r>
                        <a:rPr b="1" lang="en" sz="1500">
                          <a:solidFill>
                            <a:srgbClr val="010101"/>
                          </a:solidFill>
                          <a:latin typeface="Albert Sans"/>
                          <a:ea typeface="Albert Sans"/>
                          <a:cs typeface="Albert Sans"/>
                          <a:sym typeface="Albert Sans"/>
                        </a:rPr>
                        <a:t>F1 </a:t>
                      </a:r>
                      <a:endParaRPr b="1" sz="1500">
                        <a:solidFill>
                          <a:srgbClr val="01010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0.91</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0.83</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0.88</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0.88</a:t>
                      </a:r>
                      <a:endParaRPr sz="1500">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0.88</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512" name="Google Shape;512;p67"/>
          <p:cNvGraphicFramePr/>
          <p:nvPr/>
        </p:nvGraphicFramePr>
        <p:xfrm>
          <a:off x="432613" y="3553750"/>
          <a:ext cx="3000000" cy="3000000"/>
        </p:xfrm>
        <a:graphic>
          <a:graphicData uri="http://schemas.openxmlformats.org/drawingml/2006/table">
            <a:tbl>
              <a:tblPr>
                <a:noFill/>
                <a:tableStyleId>{345A9BC6-8CD5-4C3E-ABC0-0DEC419FA553}</a:tableStyleId>
              </a:tblPr>
              <a:tblGrid>
                <a:gridCol w="719950"/>
                <a:gridCol w="531775"/>
                <a:gridCol w="590325"/>
                <a:gridCol w="582625"/>
                <a:gridCol w="609525"/>
                <a:gridCol w="554325"/>
                <a:gridCol w="607375"/>
                <a:gridCol w="770650"/>
                <a:gridCol w="1087575"/>
              </a:tblGrid>
              <a:tr h="522225">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Class</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A1</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A2</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B1</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B2</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C1</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C2</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Macro</a:t>
                      </a:r>
                      <a:endParaRPr b="1" sz="1500">
                        <a:solidFill>
                          <a:schemeClr val="dk1"/>
                        </a:solidFill>
                        <a:latin typeface="Albert Sans"/>
                        <a:ea typeface="Albert Sans"/>
                        <a:cs typeface="Albert Sans"/>
                        <a:sym typeface="Albert Sans"/>
                      </a:endParaRPr>
                    </a:p>
                  </a:txBody>
                  <a:tcPr marT="91425" marB="91425" marR="91425" marL="91425">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500">
                          <a:solidFill>
                            <a:schemeClr val="dk1"/>
                          </a:solidFill>
                          <a:latin typeface="Albert Sans"/>
                          <a:ea typeface="Albert Sans"/>
                          <a:cs typeface="Albert Sans"/>
                          <a:sym typeface="Albert Sans"/>
                        </a:rPr>
                        <a:t>Weighted</a:t>
                      </a:r>
                      <a:endParaRPr b="1" sz="15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155CC"/>
                    </a:solidFill>
                  </a:tcPr>
                </a:tc>
              </a:tr>
              <a:tr h="330875">
                <a:tc>
                  <a:txBody>
                    <a:bodyPr/>
                    <a:lstStyle/>
                    <a:p>
                      <a:pPr indent="0" lvl="0" marL="0" rtl="0" algn="l">
                        <a:spcBef>
                          <a:spcPts val="0"/>
                        </a:spcBef>
                        <a:spcAft>
                          <a:spcPts val="0"/>
                        </a:spcAft>
                        <a:buNone/>
                      </a:pPr>
                      <a:r>
                        <a:rPr b="1" lang="en" sz="1500">
                          <a:solidFill>
                            <a:srgbClr val="010101"/>
                          </a:solidFill>
                          <a:latin typeface="Albert Sans"/>
                          <a:ea typeface="Albert Sans"/>
                          <a:cs typeface="Albert Sans"/>
                          <a:sym typeface="Albert Sans"/>
                        </a:rPr>
                        <a:t>F1 </a:t>
                      </a:r>
                      <a:endParaRPr b="1" sz="1500">
                        <a:solidFill>
                          <a:srgbClr val="01010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DFD2"/>
                    </a:solidFill>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0.91</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0.63</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0.66</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0.60</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0.51</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0.92</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0.71</a:t>
                      </a:r>
                      <a:endParaRPr sz="1500">
                        <a:solidFill>
                          <a:schemeClr val="dk1"/>
                        </a:solidFill>
                        <a:latin typeface="Albert Sans"/>
                        <a:ea typeface="Albert Sans"/>
                        <a:cs typeface="Albert Sans"/>
                        <a:sym typeface="Albert Sans"/>
                      </a:endParaRPr>
                    </a:p>
                  </a:txBody>
                  <a:tcPr marT="91425" marB="91425" marR="91425" marL="91425" anchor="ctr">
                    <a:lnL cap="flat" cmpd="sng" w="381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1"/>
                          </a:solidFill>
                          <a:latin typeface="Albert Sans"/>
                          <a:ea typeface="Albert Sans"/>
                          <a:cs typeface="Albert Sans"/>
                          <a:sym typeface="Albert Sans"/>
                        </a:rPr>
                        <a:t>0.77</a:t>
                      </a:r>
                      <a:endParaRPr sz="15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13" name="Google Shape;513;p67"/>
          <p:cNvSpPr txBox="1"/>
          <p:nvPr/>
        </p:nvSpPr>
        <p:spPr>
          <a:xfrm>
            <a:off x="306325" y="914825"/>
            <a:ext cx="51912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Albert Sans"/>
                <a:ea typeface="Albert Sans"/>
                <a:cs typeface="Albert Sans"/>
                <a:sym typeface="Albert Sans"/>
              </a:rPr>
              <a:t>Model:</a:t>
            </a:r>
            <a:endParaRPr b="1"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We used distilbert-base-uncased model for faster/lightweight version of BERT without </a:t>
            </a:r>
            <a:r>
              <a:rPr lang="en" sz="1100">
                <a:solidFill>
                  <a:schemeClr val="dk1"/>
                </a:solidFill>
                <a:latin typeface="Albert Sans"/>
                <a:ea typeface="Albert Sans"/>
                <a:cs typeface="Albert Sans"/>
                <a:sym typeface="Albert Sans"/>
              </a:rPr>
              <a:t>sacrificing</a:t>
            </a:r>
            <a:r>
              <a:rPr lang="en" sz="1100">
                <a:solidFill>
                  <a:schemeClr val="dk1"/>
                </a:solidFill>
                <a:latin typeface="Albert Sans"/>
                <a:ea typeface="Albert Sans"/>
                <a:cs typeface="Albert Sans"/>
                <a:sym typeface="Albert Sans"/>
              </a:rPr>
              <a:t> much performance</a:t>
            </a:r>
            <a:endParaRPr sz="1100">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sz="1100">
                <a:solidFill>
                  <a:schemeClr val="dk1"/>
                </a:solidFill>
                <a:latin typeface="Albert Sans"/>
                <a:ea typeface="Albert Sans"/>
                <a:cs typeface="Albert Sans"/>
                <a:sym typeface="Albert Sans"/>
              </a:rPr>
              <a:t>Parameters:</a:t>
            </a:r>
            <a:endParaRPr b="1"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Learning Rate: 2e-5</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Per Device Train Batch Size: 16</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Per Device Eval Batch Size: 16</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Number of Training Epochs: 5</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Weight Decay: 0.01</a:t>
            </a:r>
            <a:endParaRPr sz="1100">
              <a:solidFill>
                <a:schemeClr val="dk1"/>
              </a:solidFill>
              <a:latin typeface="Albert Sans"/>
              <a:ea typeface="Albert Sans"/>
              <a:cs typeface="Albert Sans"/>
              <a:sym typeface="Albert Sans"/>
            </a:endParaRPr>
          </a:p>
        </p:txBody>
      </p:sp>
      <p:sp>
        <p:nvSpPr>
          <p:cNvPr id="514" name="Google Shape;514;p67"/>
          <p:cNvSpPr txBox="1"/>
          <p:nvPr/>
        </p:nvSpPr>
        <p:spPr>
          <a:xfrm>
            <a:off x="5079175" y="1740600"/>
            <a:ext cx="3477600" cy="1662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Albert Sans"/>
              <a:buChar char="●"/>
            </a:pPr>
            <a:r>
              <a:rPr b="1" lang="en" sz="1200">
                <a:solidFill>
                  <a:schemeClr val="dk1"/>
                </a:solidFill>
                <a:latin typeface="Albert Sans"/>
                <a:ea typeface="Albert Sans"/>
                <a:cs typeface="Albert Sans"/>
                <a:sym typeface="Albert Sans"/>
              </a:rPr>
              <a:t>Task Complexity:</a:t>
            </a:r>
            <a:r>
              <a:rPr lang="en" sz="1200">
                <a:solidFill>
                  <a:schemeClr val="dk1"/>
                </a:solidFill>
                <a:latin typeface="Albert Sans"/>
                <a:ea typeface="Albert Sans"/>
                <a:cs typeface="Albert Sans"/>
                <a:sym typeface="Albert Sans"/>
              </a:rPr>
              <a:t> Accuracy dropped significantly from 3-class to 6-class tasks.</a:t>
            </a:r>
            <a:endParaRPr sz="1200">
              <a:solidFill>
                <a:schemeClr val="dk1"/>
              </a:solidFill>
              <a:latin typeface="Albert Sans"/>
              <a:ea typeface="Albert Sans"/>
              <a:cs typeface="Albert Sans"/>
              <a:sym typeface="Albert Sans"/>
            </a:endParaRPr>
          </a:p>
          <a:p>
            <a:pPr indent="-304800" lvl="0" marL="457200" rtl="0" algn="l">
              <a:spcBef>
                <a:spcPts val="0"/>
              </a:spcBef>
              <a:spcAft>
                <a:spcPts val="0"/>
              </a:spcAft>
              <a:buClr>
                <a:schemeClr val="dk1"/>
              </a:buClr>
              <a:buSzPts val="1200"/>
              <a:buFont typeface="Albert Sans"/>
              <a:buChar char="●"/>
            </a:pPr>
            <a:r>
              <a:rPr b="1" lang="en" sz="1200">
                <a:solidFill>
                  <a:schemeClr val="dk1"/>
                </a:solidFill>
                <a:latin typeface="Albert Sans"/>
                <a:ea typeface="Albert Sans"/>
                <a:cs typeface="Albert Sans"/>
                <a:sym typeface="Albert Sans"/>
              </a:rPr>
              <a:t>Weighted Consistency:</a:t>
            </a:r>
            <a:r>
              <a:rPr lang="en" sz="1200">
                <a:solidFill>
                  <a:schemeClr val="dk1"/>
                </a:solidFill>
                <a:latin typeface="Albert Sans"/>
                <a:ea typeface="Albert Sans"/>
                <a:cs typeface="Albert Sans"/>
                <a:sym typeface="Albert Sans"/>
              </a:rPr>
              <a:t> High Weighted F1 (0.88/0.77) shows stability across class distributions.</a:t>
            </a:r>
            <a:endParaRPr sz="1200">
              <a:solidFill>
                <a:schemeClr val="dk1"/>
              </a:solidFill>
              <a:latin typeface="Albert Sans"/>
              <a:ea typeface="Albert Sans"/>
              <a:cs typeface="Albert Sans"/>
              <a:sym typeface="Albert Sans"/>
            </a:endParaRPr>
          </a:p>
          <a:p>
            <a:pPr indent="-304800" lvl="0" marL="457200" rtl="0" algn="l">
              <a:spcBef>
                <a:spcPts val="0"/>
              </a:spcBef>
              <a:spcAft>
                <a:spcPts val="0"/>
              </a:spcAft>
              <a:buClr>
                <a:schemeClr val="dk1"/>
              </a:buClr>
              <a:buSzPts val="1200"/>
              <a:buFont typeface="Albert Sans"/>
              <a:buChar char="●"/>
            </a:pPr>
            <a:r>
              <a:rPr b="1" lang="en" sz="1200">
                <a:solidFill>
                  <a:schemeClr val="dk1"/>
                </a:solidFill>
                <a:latin typeface="Albert Sans"/>
                <a:ea typeface="Albert Sans"/>
                <a:cs typeface="Albert Sans"/>
                <a:sym typeface="Albert Sans"/>
              </a:rPr>
              <a:t>Peak Precision: </a:t>
            </a:r>
            <a:r>
              <a:rPr lang="en" sz="1200">
                <a:solidFill>
                  <a:schemeClr val="dk1"/>
                </a:solidFill>
                <a:latin typeface="Albert Sans"/>
                <a:ea typeface="Albert Sans"/>
                <a:cs typeface="Albert Sans"/>
                <a:sym typeface="Albert Sans"/>
              </a:rPr>
              <a:t>Excelled at spectrum extremes: C2 (0.92) and A1 (0.91).</a:t>
            </a:r>
            <a:endParaRPr sz="1200">
              <a:solidFill>
                <a:schemeClr val="dk1"/>
              </a:solidFill>
              <a:latin typeface="Albert Sans"/>
              <a:ea typeface="Albert Sans"/>
              <a:cs typeface="Albert Sans"/>
              <a:sym typeface="Albert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sp>
        <p:nvSpPr>
          <p:cNvPr id="519" name="Google Shape;519;p68"/>
          <p:cNvSpPr txBox="1"/>
          <p:nvPr>
            <p:ph type="ctrTitle"/>
          </p:nvPr>
        </p:nvSpPr>
        <p:spPr>
          <a:xfrm>
            <a:off x="0" y="101225"/>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BERT - Confusion Matrix</a:t>
            </a:r>
            <a:endParaRPr sz="5400"/>
          </a:p>
        </p:txBody>
      </p:sp>
      <p:sp>
        <p:nvSpPr>
          <p:cNvPr id="520" name="Google Shape;520;p68"/>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21" name="Google Shape;521;p68"/>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22" name="Google Shape;522;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23" name="Google Shape;523;p68" title="confusionBert.png"/>
          <p:cNvPicPr preferRelativeResize="0"/>
          <p:nvPr/>
        </p:nvPicPr>
        <p:blipFill>
          <a:blip r:embed="rId3">
            <a:alphaModFix/>
          </a:blip>
          <a:stretch>
            <a:fillRect/>
          </a:stretch>
        </p:blipFill>
        <p:spPr>
          <a:xfrm>
            <a:off x="346506" y="907025"/>
            <a:ext cx="4152376" cy="3693925"/>
          </a:xfrm>
          <a:prstGeom prst="rect">
            <a:avLst/>
          </a:prstGeom>
          <a:noFill/>
          <a:ln>
            <a:noFill/>
          </a:ln>
        </p:spPr>
      </p:pic>
      <p:sp>
        <p:nvSpPr>
          <p:cNvPr id="524" name="Google Shape;524;p68"/>
          <p:cNvSpPr txBox="1"/>
          <p:nvPr/>
        </p:nvSpPr>
        <p:spPr>
          <a:xfrm>
            <a:off x="4769775" y="1186275"/>
            <a:ext cx="3828300" cy="30861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chemeClr val="dk1"/>
              </a:buClr>
              <a:buSzPts val="1300"/>
              <a:buFont typeface="Albert Sans"/>
              <a:buChar char="●"/>
            </a:pPr>
            <a:r>
              <a:rPr b="1" lang="en" sz="1300">
                <a:solidFill>
                  <a:schemeClr val="dk1"/>
                </a:solidFill>
              </a:rPr>
              <a:t>High diagonal density proves model understands level progression.</a:t>
            </a:r>
            <a:endParaRPr b="1" sz="1300">
              <a:solidFill>
                <a:schemeClr val="dk1"/>
              </a:solidFill>
            </a:endParaRPr>
          </a:p>
          <a:p>
            <a:pPr indent="-311150" lvl="0" marL="457200" rtl="0" algn="l">
              <a:lnSpc>
                <a:spcPct val="150000"/>
              </a:lnSpc>
              <a:spcBef>
                <a:spcPts val="0"/>
              </a:spcBef>
              <a:spcAft>
                <a:spcPts val="0"/>
              </a:spcAft>
              <a:buClr>
                <a:schemeClr val="dk1"/>
              </a:buClr>
              <a:buSzPts val="1300"/>
              <a:buFont typeface="Albert Sans"/>
              <a:buChar char="●"/>
            </a:pPr>
            <a:r>
              <a:rPr b="1" lang="en" sz="1300">
                <a:solidFill>
                  <a:schemeClr val="dk1"/>
                </a:solidFill>
              </a:rPr>
              <a:t>Polar classes (A1/C2) show the clearest linguistic markers.</a:t>
            </a:r>
            <a:endParaRPr b="1" sz="1300">
              <a:solidFill>
                <a:schemeClr val="dk1"/>
              </a:solidFill>
            </a:endParaRPr>
          </a:p>
          <a:p>
            <a:pPr indent="-311150" lvl="0" marL="457200" rtl="0" algn="l">
              <a:lnSpc>
                <a:spcPct val="150000"/>
              </a:lnSpc>
              <a:spcBef>
                <a:spcPts val="0"/>
              </a:spcBef>
              <a:spcAft>
                <a:spcPts val="0"/>
              </a:spcAft>
              <a:buClr>
                <a:schemeClr val="dk1"/>
              </a:buClr>
              <a:buSzPts val="1300"/>
              <a:buFont typeface="Albert Sans"/>
              <a:buChar char="●"/>
            </a:pPr>
            <a:r>
              <a:rPr b="1" lang="en" sz="1300">
                <a:solidFill>
                  <a:schemeClr val="dk1"/>
                </a:solidFill>
              </a:rPr>
              <a:t>Significant classification drift occurs between B1 and B2 levels.</a:t>
            </a:r>
            <a:endParaRPr b="1" sz="1300">
              <a:solidFill>
                <a:schemeClr val="dk1"/>
              </a:solidFill>
            </a:endParaRPr>
          </a:p>
          <a:p>
            <a:pPr indent="-311150" lvl="0" marL="457200" rtl="0" algn="l">
              <a:lnSpc>
                <a:spcPct val="150000"/>
              </a:lnSpc>
              <a:spcBef>
                <a:spcPts val="0"/>
              </a:spcBef>
              <a:spcAft>
                <a:spcPts val="0"/>
              </a:spcAft>
              <a:buClr>
                <a:schemeClr val="dk1"/>
              </a:buClr>
              <a:buSzPts val="1300"/>
              <a:buFont typeface="Albert Sans"/>
              <a:buChar char="●"/>
            </a:pPr>
            <a:r>
              <a:rPr b="1" lang="en" sz="1300">
                <a:solidFill>
                  <a:schemeClr val="dk1"/>
                </a:solidFill>
              </a:rPr>
              <a:t>No extreme errors shows successful separation of broad skills.</a:t>
            </a:r>
            <a:endParaRPr b="1" sz="1300">
              <a:solidFill>
                <a:schemeClr val="dk1"/>
              </a:solidFill>
            </a:endParaRPr>
          </a:p>
          <a:p>
            <a:pPr indent="-311150" lvl="0" marL="457200" rtl="0" algn="l">
              <a:lnSpc>
                <a:spcPct val="150000"/>
              </a:lnSpc>
              <a:spcBef>
                <a:spcPts val="0"/>
              </a:spcBef>
              <a:spcAft>
                <a:spcPts val="0"/>
              </a:spcAft>
              <a:buClr>
                <a:schemeClr val="dk1"/>
              </a:buClr>
              <a:buSzPts val="1300"/>
              <a:buFont typeface="Albert Sans"/>
              <a:buChar char="●"/>
            </a:pPr>
            <a:r>
              <a:rPr b="1" lang="en" sz="1300">
                <a:solidFill>
                  <a:schemeClr val="dk1"/>
                </a:solidFill>
              </a:rPr>
              <a:t>Overlapping grammar hampers precision in middle-level classification.</a:t>
            </a:r>
            <a:endParaRPr sz="1300">
              <a:solidFill>
                <a:schemeClr val="dk1"/>
              </a:solidFill>
              <a:latin typeface="Albert Sans"/>
              <a:ea typeface="Albert Sans"/>
              <a:cs typeface="Albert Sans"/>
              <a:sym typeface="Albert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8" name="Shape 528"/>
        <p:cNvGrpSpPr/>
        <p:nvPr/>
      </p:nvGrpSpPr>
      <p:grpSpPr>
        <a:xfrm>
          <a:off x="0" y="0"/>
          <a:ext cx="0" cy="0"/>
          <a:chOff x="0" y="0"/>
          <a:chExt cx="0" cy="0"/>
        </a:xfrm>
      </p:grpSpPr>
      <p:sp>
        <p:nvSpPr>
          <p:cNvPr id="529" name="Google Shape;529;p69"/>
          <p:cNvSpPr txBox="1"/>
          <p:nvPr>
            <p:ph type="ctrTitle"/>
          </p:nvPr>
        </p:nvSpPr>
        <p:spPr>
          <a:xfrm>
            <a:off x="0" y="1111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Results - 3 classES</a:t>
            </a:r>
            <a:endParaRPr sz="5400"/>
          </a:p>
        </p:txBody>
      </p:sp>
      <p:sp>
        <p:nvSpPr>
          <p:cNvPr id="530" name="Google Shape;530;p69"/>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31" name="Google Shape;531;p69"/>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32" name="Google Shape;532;p6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33" name="Google Shape;533;p69" title="Chart"/>
          <p:cNvPicPr preferRelativeResize="0"/>
          <p:nvPr/>
        </p:nvPicPr>
        <p:blipFill>
          <a:blip r:embed="rId3">
            <a:alphaModFix/>
          </a:blip>
          <a:stretch>
            <a:fillRect/>
          </a:stretch>
        </p:blipFill>
        <p:spPr>
          <a:xfrm>
            <a:off x="1588425" y="1063901"/>
            <a:ext cx="5967138" cy="3689675"/>
          </a:xfrm>
          <a:prstGeom prst="rect">
            <a:avLst/>
          </a:prstGeom>
          <a:noFill/>
          <a:ln>
            <a:noFill/>
          </a:ln>
        </p:spPr>
      </p:pic>
      <p:sp>
        <p:nvSpPr>
          <p:cNvPr id="534" name="Google Shape;534;p69"/>
          <p:cNvSpPr txBox="1"/>
          <p:nvPr/>
        </p:nvSpPr>
        <p:spPr>
          <a:xfrm rot="-5400000">
            <a:off x="1053175" y="2724088"/>
            <a:ext cx="84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F1 Score</a:t>
            </a:r>
            <a:endParaRPr sz="1200">
              <a:solidFill>
                <a:schemeClr val="dk1"/>
              </a:solidFill>
              <a:latin typeface="Albert Sans"/>
              <a:ea typeface="Albert Sans"/>
              <a:cs typeface="Albert Sans"/>
              <a:sym typeface="Albert Sans"/>
            </a:endParaRPr>
          </a:p>
        </p:txBody>
      </p:sp>
      <p:sp>
        <p:nvSpPr>
          <p:cNvPr id="535" name="Google Shape;535;p69"/>
          <p:cNvSpPr txBox="1"/>
          <p:nvPr/>
        </p:nvSpPr>
        <p:spPr>
          <a:xfrm>
            <a:off x="4151550" y="4439725"/>
            <a:ext cx="84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Category</a:t>
            </a:r>
            <a:endParaRPr sz="1200">
              <a:solidFill>
                <a:schemeClr val="dk1"/>
              </a:solidFill>
              <a:latin typeface="Albert Sans"/>
              <a:ea typeface="Albert Sans"/>
              <a:cs typeface="Albert Sans"/>
              <a:sym typeface="Albert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9" name="Shape 539"/>
        <p:cNvGrpSpPr/>
        <p:nvPr/>
      </p:nvGrpSpPr>
      <p:grpSpPr>
        <a:xfrm>
          <a:off x="0" y="0"/>
          <a:ext cx="0" cy="0"/>
          <a:chOff x="0" y="0"/>
          <a:chExt cx="0" cy="0"/>
        </a:xfrm>
      </p:grpSpPr>
      <p:sp>
        <p:nvSpPr>
          <p:cNvPr id="540" name="Google Shape;540;p70"/>
          <p:cNvSpPr txBox="1"/>
          <p:nvPr>
            <p:ph type="ctrTitle"/>
          </p:nvPr>
        </p:nvSpPr>
        <p:spPr>
          <a:xfrm>
            <a:off x="0" y="1111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Results - 3 classES</a:t>
            </a:r>
            <a:endParaRPr sz="5400"/>
          </a:p>
        </p:txBody>
      </p:sp>
      <p:sp>
        <p:nvSpPr>
          <p:cNvPr id="541" name="Google Shape;541;p70"/>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42" name="Google Shape;542;p70"/>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43" name="Google Shape;543;p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44" name="Google Shape;544;p70" title="Chart"/>
          <p:cNvPicPr preferRelativeResize="0"/>
          <p:nvPr/>
        </p:nvPicPr>
        <p:blipFill>
          <a:blip r:embed="rId3">
            <a:alphaModFix/>
          </a:blip>
          <a:stretch>
            <a:fillRect/>
          </a:stretch>
        </p:blipFill>
        <p:spPr>
          <a:xfrm>
            <a:off x="1636301" y="971901"/>
            <a:ext cx="5871411" cy="3630500"/>
          </a:xfrm>
          <a:prstGeom prst="rect">
            <a:avLst/>
          </a:prstGeom>
          <a:noFill/>
          <a:ln>
            <a:noFill/>
          </a:ln>
        </p:spPr>
      </p:pic>
      <p:sp>
        <p:nvSpPr>
          <p:cNvPr id="545" name="Google Shape;545;p70"/>
          <p:cNvSpPr txBox="1"/>
          <p:nvPr/>
        </p:nvSpPr>
        <p:spPr>
          <a:xfrm>
            <a:off x="4151550" y="4380550"/>
            <a:ext cx="84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Model</a:t>
            </a:r>
            <a:endParaRPr sz="1200">
              <a:solidFill>
                <a:schemeClr val="dk1"/>
              </a:solidFill>
              <a:latin typeface="Albert Sans"/>
              <a:ea typeface="Albert Sans"/>
              <a:cs typeface="Albert Sans"/>
              <a:sym typeface="Albert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9" name="Shape 549"/>
        <p:cNvGrpSpPr/>
        <p:nvPr/>
      </p:nvGrpSpPr>
      <p:grpSpPr>
        <a:xfrm>
          <a:off x="0" y="0"/>
          <a:ext cx="0" cy="0"/>
          <a:chOff x="0" y="0"/>
          <a:chExt cx="0" cy="0"/>
        </a:xfrm>
      </p:grpSpPr>
      <p:sp>
        <p:nvSpPr>
          <p:cNvPr id="550" name="Google Shape;550;p71"/>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51" name="Google Shape;551;p71"/>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52" name="Google Shape;552;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53" name="Google Shape;553;p71" title="Chart"/>
          <p:cNvPicPr preferRelativeResize="0"/>
          <p:nvPr/>
        </p:nvPicPr>
        <p:blipFill>
          <a:blip r:embed="rId3">
            <a:alphaModFix/>
          </a:blip>
          <a:stretch>
            <a:fillRect/>
          </a:stretch>
        </p:blipFill>
        <p:spPr>
          <a:xfrm>
            <a:off x="9105463" y="3538400"/>
            <a:ext cx="6883026" cy="4250250"/>
          </a:xfrm>
          <a:prstGeom prst="rect">
            <a:avLst/>
          </a:prstGeom>
          <a:noFill/>
          <a:ln>
            <a:noFill/>
          </a:ln>
        </p:spPr>
      </p:pic>
      <p:pic>
        <p:nvPicPr>
          <p:cNvPr id="554" name="Google Shape;554;p71" title="Chart"/>
          <p:cNvPicPr preferRelativeResize="0"/>
          <p:nvPr/>
        </p:nvPicPr>
        <p:blipFill>
          <a:blip r:embed="rId4">
            <a:alphaModFix/>
          </a:blip>
          <a:stretch>
            <a:fillRect/>
          </a:stretch>
        </p:blipFill>
        <p:spPr>
          <a:xfrm>
            <a:off x="285750" y="1017988"/>
            <a:ext cx="8572500" cy="3714750"/>
          </a:xfrm>
          <a:prstGeom prst="rect">
            <a:avLst/>
          </a:prstGeom>
          <a:noFill/>
          <a:ln>
            <a:noFill/>
          </a:ln>
        </p:spPr>
      </p:pic>
      <p:sp>
        <p:nvSpPr>
          <p:cNvPr id="555" name="Google Shape;555;p71"/>
          <p:cNvSpPr txBox="1"/>
          <p:nvPr/>
        </p:nvSpPr>
        <p:spPr>
          <a:xfrm rot="-5400000">
            <a:off x="-155125" y="2690725"/>
            <a:ext cx="84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F1 Score</a:t>
            </a:r>
            <a:endParaRPr sz="1200">
              <a:solidFill>
                <a:schemeClr val="dk1"/>
              </a:solidFill>
              <a:latin typeface="Albert Sans"/>
              <a:ea typeface="Albert Sans"/>
              <a:cs typeface="Albert Sans"/>
              <a:sym typeface="Albert Sans"/>
            </a:endParaRPr>
          </a:p>
        </p:txBody>
      </p:sp>
      <p:sp>
        <p:nvSpPr>
          <p:cNvPr id="556" name="Google Shape;556;p71"/>
          <p:cNvSpPr txBox="1"/>
          <p:nvPr/>
        </p:nvSpPr>
        <p:spPr>
          <a:xfrm>
            <a:off x="4151550" y="4439725"/>
            <a:ext cx="84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Category</a:t>
            </a:r>
            <a:endParaRPr sz="1200">
              <a:solidFill>
                <a:schemeClr val="dk1"/>
              </a:solidFill>
              <a:latin typeface="Albert Sans"/>
              <a:ea typeface="Albert Sans"/>
              <a:cs typeface="Albert Sans"/>
              <a:sym typeface="Albert Sans"/>
            </a:endParaRPr>
          </a:p>
        </p:txBody>
      </p:sp>
      <p:sp>
        <p:nvSpPr>
          <p:cNvPr id="557" name="Google Shape;557;p71"/>
          <p:cNvSpPr txBox="1"/>
          <p:nvPr>
            <p:ph type="ctrTitle"/>
          </p:nvPr>
        </p:nvSpPr>
        <p:spPr>
          <a:xfrm>
            <a:off x="0" y="1111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Results - 6 classES</a:t>
            </a:r>
            <a:endParaRPr sz="5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 name="Shape 561"/>
        <p:cNvGrpSpPr/>
        <p:nvPr/>
      </p:nvGrpSpPr>
      <p:grpSpPr>
        <a:xfrm>
          <a:off x="0" y="0"/>
          <a:ext cx="0" cy="0"/>
          <a:chOff x="0" y="0"/>
          <a:chExt cx="0" cy="0"/>
        </a:xfrm>
      </p:grpSpPr>
      <p:sp>
        <p:nvSpPr>
          <p:cNvPr id="562" name="Google Shape;562;p72"/>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63" name="Google Shape;563;p72"/>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sp>
        <p:nvSpPr>
          <p:cNvPr id="564" name="Google Shape;564;p7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65" name="Google Shape;565;p72" title="Chart"/>
          <p:cNvPicPr preferRelativeResize="0"/>
          <p:nvPr/>
        </p:nvPicPr>
        <p:blipFill>
          <a:blip r:embed="rId3">
            <a:alphaModFix/>
          </a:blip>
          <a:stretch>
            <a:fillRect/>
          </a:stretch>
        </p:blipFill>
        <p:spPr>
          <a:xfrm>
            <a:off x="9105463" y="3538400"/>
            <a:ext cx="6883026" cy="4250250"/>
          </a:xfrm>
          <a:prstGeom prst="rect">
            <a:avLst/>
          </a:prstGeom>
          <a:noFill/>
          <a:ln>
            <a:noFill/>
          </a:ln>
        </p:spPr>
      </p:pic>
      <p:pic>
        <p:nvPicPr>
          <p:cNvPr id="566" name="Google Shape;566;p72" title="Chart"/>
          <p:cNvPicPr preferRelativeResize="0"/>
          <p:nvPr/>
        </p:nvPicPr>
        <p:blipFill>
          <a:blip r:embed="rId4">
            <a:alphaModFix/>
          </a:blip>
          <a:stretch>
            <a:fillRect/>
          </a:stretch>
        </p:blipFill>
        <p:spPr>
          <a:xfrm>
            <a:off x="1428863" y="860675"/>
            <a:ext cx="6286274" cy="3889165"/>
          </a:xfrm>
          <a:prstGeom prst="rect">
            <a:avLst/>
          </a:prstGeom>
          <a:noFill/>
          <a:ln>
            <a:noFill/>
          </a:ln>
        </p:spPr>
      </p:pic>
      <p:sp>
        <p:nvSpPr>
          <p:cNvPr id="567" name="Google Shape;567;p72"/>
          <p:cNvSpPr txBox="1"/>
          <p:nvPr/>
        </p:nvSpPr>
        <p:spPr>
          <a:xfrm>
            <a:off x="4151550" y="4496875"/>
            <a:ext cx="84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Model</a:t>
            </a:r>
            <a:endParaRPr sz="1200">
              <a:solidFill>
                <a:schemeClr val="dk1"/>
              </a:solidFill>
              <a:latin typeface="Albert Sans"/>
              <a:ea typeface="Albert Sans"/>
              <a:cs typeface="Albert Sans"/>
              <a:sym typeface="Albert Sans"/>
            </a:endParaRPr>
          </a:p>
        </p:txBody>
      </p:sp>
      <p:sp>
        <p:nvSpPr>
          <p:cNvPr id="568" name="Google Shape;568;p72"/>
          <p:cNvSpPr txBox="1"/>
          <p:nvPr>
            <p:ph type="ctrTitle"/>
          </p:nvPr>
        </p:nvSpPr>
        <p:spPr>
          <a:xfrm>
            <a:off x="0" y="1111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Results - 6 classES</a:t>
            </a:r>
            <a:endParaRPr sz="5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2" name="Shape 572"/>
        <p:cNvGrpSpPr/>
        <p:nvPr/>
      </p:nvGrpSpPr>
      <p:grpSpPr>
        <a:xfrm>
          <a:off x="0" y="0"/>
          <a:ext cx="0" cy="0"/>
          <a:chOff x="0" y="0"/>
          <a:chExt cx="0" cy="0"/>
        </a:xfrm>
      </p:grpSpPr>
      <p:sp>
        <p:nvSpPr>
          <p:cNvPr id="573" name="Google Shape;573;p73"/>
          <p:cNvSpPr txBox="1"/>
          <p:nvPr>
            <p:ph idx="1" type="subTitle"/>
          </p:nvPr>
        </p:nvSpPr>
        <p:spPr>
          <a:xfrm>
            <a:off x="366525" y="1138325"/>
            <a:ext cx="6071400" cy="34176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SzPts val="1800"/>
              <a:buChar char="●"/>
            </a:pPr>
            <a:r>
              <a:rPr lang="en" sz="1800"/>
              <a:t>BERT achieved the best metrics</a:t>
            </a:r>
            <a:endParaRPr sz="1800"/>
          </a:p>
          <a:p>
            <a:pPr indent="-342900" lvl="1" marL="914400" rtl="0" algn="l">
              <a:lnSpc>
                <a:spcPct val="115000"/>
              </a:lnSpc>
              <a:spcBef>
                <a:spcPts val="0"/>
              </a:spcBef>
              <a:spcAft>
                <a:spcPts val="0"/>
              </a:spcAft>
              <a:buSzPts val="1800"/>
              <a:buChar char="○"/>
            </a:pPr>
            <a:r>
              <a:rPr lang="en"/>
              <a:t>Contextual and positional embeddings outperform linguistic features</a:t>
            </a:r>
            <a:br>
              <a:rPr lang="en" sz="1800"/>
            </a:br>
            <a:endParaRPr sz="1800"/>
          </a:p>
          <a:p>
            <a:pPr indent="-342900" lvl="0" marL="457200" rtl="0" algn="l">
              <a:lnSpc>
                <a:spcPct val="115000"/>
              </a:lnSpc>
              <a:spcBef>
                <a:spcPts val="0"/>
              </a:spcBef>
              <a:spcAft>
                <a:spcPts val="0"/>
              </a:spcAft>
              <a:buSzPts val="1800"/>
              <a:buChar char="●"/>
            </a:pPr>
            <a:r>
              <a:rPr lang="en" sz="1800"/>
              <a:t>Language is subjective, so 100% accuracy and F1 is nearly impossible</a:t>
            </a:r>
            <a:br>
              <a:rPr lang="en" sz="1800"/>
            </a:br>
            <a:endParaRPr sz="1800"/>
          </a:p>
          <a:p>
            <a:pPr indent="-342900" lvl="0" marL="457200" rtl="0" algn="l">
              <a:lnSpc>
                <a:spcPct val="115000"/>
              </a:lnSpc>
              <a:spcBef>
                <a:spcPts val="0"/>
              </a:spcBef>
              <a:spcAft>
                <a:spcPts val="0"/>
              </a:spcAft>
              <a:buSzPts val="1800"/>
              <a:buChar char="●"/>
            </a:pPr>
            <a:r>
              <a:rPr lang="en" sz="1800"/>
              <a:t>B1/B2 proved to be the hardest to </a:t>
            </a:r>
            <a:r>
              <a:rPr lang="en" sz="1800"/>
              <a:t>classify, suggesting similarities</a:t>
            </a:r>
            <a:endParaRPr sz="1800"/>
          </a:p>
        </p:txBody>
      </p:sp>
      <p:sp>
        <p:nvSpPr>
          <p:cNvPr id="574" name="Google Shape;574;p73"/>
          <p:cNvSpPr txBox="1"/>
          <p:nvPr>
            <p:ph type="ctrTitle"/>
          </p:nvPr>
        </p:nvSpPr>
        <p:spPr>
          <a:xfrm>
            <a:off x="0" y="3062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Conclusions</a:t>
            </a:r>
            <a:endParaRPr sz="5400"/>
          </a:p>
        </p:txBody>
      </p:sp>
      <p:sp>
        <p:nvSpPr>
          <p:cNvPr id="575" name="Google Shape;575;p73"/>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76" name="Google Shape;576;p73"/>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pic>
        <p:nvPicPr>
          <p:cNvPr descr="Light bulb - Free technology icons" id="577" name="Google Shape;577;p73"/>
          <p:cNvPicPr preferRelativeResize="0"/>
          <p:nvPr/>
        </p:nvPicPr>
        <p:blipFill>
          <a:blip r:embed="rId3">
            <a:alphaModFix/>
          </a:blip>
          <a:stretch>
            <a:fillRect/>
          </a:stretch>
        </p:blipFill>
        <p:spPr>
          <a:xfrm>
            <a:off x="6183175" y="1259000"/>
            <a:ext cx="2821500" cy="2821500"/>
          </a:xfrm>
          <a:prstGeom prst="rect">
            <a:avLst/>
          </a:prstGeom>
          <a:noFill/>
          <a:ln>
            <a:noFill/>
          </a:ln>
        </p:spPr>
      </p:pic>
      <p:sp>
        <p:nvSpPr>
          <p:cNvPr id="578" name="Google Shape;578;p7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74"/>
          <p:cNvSpPr txBox="1"/>
          <p:nvPr>
            <p:ph idx="1" type="subTitle"/>
          </p:nvPr>
        </p:nvSpPr>
        <p:spPr>
          <a:xfrm>
            <a:off x="366525" y="1138325"/>
            <a:ext cx="5130000" cy="34176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SzPts val="1800"/>
              <a:buChar char="●"/>
            </a:pPr>
            <a:r>
              <a:rPr lang="en" sz="1800"/>
              <a:t>If we had more time and tokens, we would run the OpenAI API through all of our data </a:t>
            </a:r>
            <a:br>
              <a:rPr lang="en" sz="1800"/>
            </a:br>
            <a:endParaRPr sz="1800"/>
          </a:p>
          <a:p>
            <a:pPr indent="-342900" lvl="0" marL="457200" rtl="0" algn="l">
              <a:lnSpc>
                <a:spcPct val="115000"/>
              </a:lnSpc>
              <a:spcBef>
                <a:spcPts val="0"/>
              </a:spcBef>
              <a:spcAft>
                <a:spcPts val="0"/>
              </a:spcAft>
              <a:buSzPts val="1800"/>
              <a:buChar char="●"/>
            </a:pPr>
            <a:r>
              <a:rPr lang="en" sz="1800"/>
              <a:t>Interested to see results for a more outdated dataset, or one from different dialects</a:t>
            </a:r>
            <a:br>
              <a:rPr lang="en" sz="1800"/>
            </a:br>
            <a:endParaRPr sz="1800"/>
          </a:p>
          <a:p>
            <a:pPr indent="-342900" lvl="0" marL="457200" rtl="0" algn="l">
              <a:lnSpc>
                <a:spcPct val="115000"/>
              </a:lnSpc>
              <a:spcBef>
                <a:spcPts val="0"/>
              </a:spcBef>
              <a:spcAft>
                <a:spcPts val="0"/>
              </a:spcAft>
              <a:buSzPts val="1800"/>
              <a:buChar char="●"/>
            </a:pPr>
            <a:r>
              <a:rPr lang="en" sz="1800"/>
              <a:t>Build a real-time learner feedback tool</a:t>
            </a:r>
            <a:endParaRPr sz="1800"/>
          </a:p>
          <a:p>
            <a:pPr indent="0" lvl="0" marL="457200" rtl="0" algn="l">
              <a:lnSpc>
                <a:spcPct val="115000"/>
              </a:lnSpc>
              <a:spcBef>
                <a:spcPts val="1200"/>
              </a:spcBef>
              <a:spcAft>
                <a:spcPts val="1200"/>
              </a:spcAft>
              <a:buNone/>
            </a:pPr>
            <a:r>
              <a:t/>
            </a:r>
            <a:endParaRPr sz="1800"/>
          </a:p>
        </p:txBody>
      </p:sp>
      <p:sp>
        <p:nvSpPr>
          <p:cNvPr id="584" name="Google Shape;584;p74"/>
          <p:cNvSpPr txBox="1"/>
          <p:nvPr>
            <p:ph type="ctrTitle"/>
          </p:nvPr>
        </p:nvSpPr>
        <p:spPr>
          <a:xfrm>
            <a:off x="0" y="306200"/>
            <a:ext cx="9144000" cy="95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400"/>
              <a:t>Future work</a:t>
            </a:r>
            <a:endParaRPr sz="5400"/>
          </a:p>
        </p:txBody>
      </p:sp>
      <p:sp>
        <p:nvSpPr>
          <p:cNvPr id="585" name="Google Shape;585;p74"/>
          <p:cNvSpPr txBox="1"/>
          <p:nvPr/>
        </p:nvSpPr>
        <p:spPr>
          <a:xfrm>
            <a:off x="306325" y="4555925"/>
            <a:ext cx="2821500" cy="4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CSCI3349: Natural Language Processing</a:t>
            </a:r>
            <a:endParaRPr sz="1000">
              <a:solidFill>
                <a:schemeClr val="dk1"/>
              </a:solidFill>
              <a:latin typeface="Albert Sans"/>
              <a:ea typeface="Albert Sans"/>
              <a:cs typeface="Albert Sans"/>
              <a:sym typeface="Albert Sans"/>
            </a:endParaRPr>
          </a:p>
        </p:txBody>
      </p:sp>
      <p:cxnSp>
        <p:nvCxnSpPr>
          <p:cNvPr id="586" name="Google Shape;586;p74"/>
          <p:cNvCxnSpPr/>
          <p:nvPr/>
        </p:nvCxnSpPr>
        <p:spPr>
          <a:xfrm flipH="1" rot="10800000">
            <a:off x="2919775" y="4800325"/>
            <a:ext cx="6756600" cy="8700"/>
          </a:xfrm>
          <a:prstGeom prst="straightConnector1">
            <a:avLst/>
          </a:prstGeom>
          <a:noFill/>
          <a:ln cap="flat" cmpd="sng" w="9525">
            <a:solidFill>
              <a:schemeClr val="dk1"/>
            </a:solidFill>
            <a:prstDash val="solid"/>
            <a:round/>
            <a:headEnd len="med" w="med" type="none"/>
            <a:tailEnd len="med" w="med" type="none"/>
          </a:ln>
        </p:spPr>
      </p:cxnSp>
      <p:pic>
        <p:nvPicPr>
          <p:cNvPr id="587" name="Google Shape;587;p74" title="3967265.png"/>
          <p:cNvPicPr preferRelativeResize="0"/>
          <p:nvPr/>
        </p:nvPicPr>
        <p:blipFill>
          <a:blip r:embed="rId3">
            <a:alphaModFix/>
          </a:blip>
          <a:stretch>
            <a:fillRect/>
          </a:stretch>
        </p:blipFill>
        <p:spPr>
          <a:xfrm>
            <a:off x="5742950" y="1259000"/>
            <a:ext cx="3057251" cy="3057251"/>
          </a:xfrm>
          <a:prstGeom prst="rect">
            <a:avLst/>
          </a:prstGeom>
          <a:noFill/>
          <a:ln>
            <a:noFill/>
          </a:ln>
        </p:spPr>
      </p:pic>
      <p:sp>
        <p:nvSpPr>
          <p:cNvPr id="588" name="Google Shape;588;p7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5"/>
          <p:cNvSpPr txBox="1"/>
          <p:nvPr>
            <p:ph type="ctrTitle"/>
          </p:nvPr>
        </p:nvSpPr>
        <p:spPr>
          <a:xfrm>
            <a:off x="713250" y="958850"/>
            <a:ext cx="7717500" cy="33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400"/>
              <a:t>Thank you!</a:t>
            </a:r>
            <a:endParaRPr sz="5400"/>
          </a:p>
        </p:txBody>
      </p:sp>
      <p:sp>
        <p:nvSpPr>
          <p:cNvPr id="594" name="Google Shape;594;p7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5" name="Google Shape;595;p75"/>
          <p:cNvSpPr txBox="1"/>
          <p:nvPr/>
        </p:nvSpPr>
        <p:spPr>
          <a:xfrm>
            <a:off x="0" y="0"/>
            <a:ext cx="9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0.3336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6"/>
          <p:cNvSpPr txBox="1"/>
          <p:nvPr>
            <p:ph type="ctrTitle"/>
          </p:nvPr>
        </p:nvSpPr>
        <p:spPr>
          <a:xfrm>
            <a:off x="713250" y="958850"/>
            <a:ext cx="7717500" cy="33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400"/>
              <a:t>Questions?</a:t>
            </a:r>
            <a:endParaRPr sz="5400"/>
          </a:p>
        </p:txBody>
      </p:sp>
      <p:sp>
        <p:nvSpPr>
          <p:cNvPr id="601" name="Google Shape;601;p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